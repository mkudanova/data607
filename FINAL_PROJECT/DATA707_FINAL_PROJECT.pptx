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3"/>
    <p:sldId id="260" r:id="rId4"/>
    <p:sldId id="261" r:id="rId5"/>
    <p:sldId id="262" r:id="rId6"/>
    <p:sldId id="258" r:id="rId7"/>
    <p:sldId id="266" r:id="rId8"/>
    <p:sldId id="267" r:id="rId9"/>
    <p:sldId id="264" r:id="rId10"/>
    <p:sldId id="265" r:id="rId11"/>
    <p:sldId id="268" r:id="rId12"/>
    <p:sldId id="269" r:id="rId13"/>
    <p:sldId id="25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A198D7-2C7B-65D2-B6D3-F58293687CC3}" v="130" dt="2026-05-11T15:05:18.030"/>
    <p1510:client id="{2F74317D-A5E7-2E92-E5F9-BFE58FF06CE5}" v="313" dt="2026-05-11T02:32:42.277"/>
    <p1510:client id="{554AEEF6-8300-2455-0F3B-D510241EFF7B}" v="544" dt="2026-05-11T18:27:28.5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5/11/2026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5/11/2026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5/11/2026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5/11/2026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5/11/2026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5/11/2026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descr="A green and white rectangular frame&#10;&#10;AI-generated content may be incorrect.">
            <a:extLst>
              <a:ext uri="{FF2B5EF4-FFF2-40B4-BE49-F238E27FC236}">
                <a16:creationId xmlns:a16="http://schemas.microsoft.com/office/drawing/2014/main" id="{BC76FDD3-FC7D-7A09-4150-67973E7219F1}"/>
              </a:ext>
            </a:extLst>
          </p:cNvPr>
          <p:cNvPicPr>
            <a:picLocks noChangeAspect="1"/>
          </p:cNvPicPr>
          <p:nvPr/>
        </p:nvPicPr>
        <p:blipFill>
          <a:blip r:embed="rId2"/>
          <a:stretch>
            <a:fillRect/>
          </a:stretch>
        </p:blipFill>
        <p:spPr>
          <a:xfrm>
            <a:off x="-985" y="-11126"/>
            <a:ext cx="12214827" cy="6858000"/>
          </a:xfrm>
          <a:prstGeom prst="rect">
            <a:avLst/>
          </a:prstGeom>
        </p:spPr>
      </p:pic>
      <p:pic>
        <p:nvPicPr>
          <p:cNvPr id="4" name="Picture 3" descr="A pile of receipt on a black surface&#10;&#10;AI-generated content may be incorrect.">
            <a:extLst>
              <a:ext uri="{FF2B5EF4-FFF2-40B4-BE49-F238E27FC236}">
                <a16:creationId xmlns:a16="http://schemas.microsoft.com/office/drawing/2014/main" id="{475495F0-6C60-93A0-D828-951D7DE60C7F}"/>
              </a:ext>
            </a:extLst>
          </p:cNvPr>
          <p:cNvPicPr>
            <a:picLocks noChangeAspect="1"/>
          </p:cNvPicPr>
          <p:nvPr/>
        </p:nvPicPr>
        <p:blipFill>
          <a:blip r:embed="rId3"/>
          <a:srcRect r="435" b="-3"/>
          <a:stretch>
            <a:fillRect/>
          </a:stretch>
        </p:blipFill>
        <p:spPr>
          <a:xfrm rot="5400000">
            <a:off x="-377207" y="592929"/>
            <a:ext cx="6642278" cy="5651382"/>
          </a:xfrm>
          <a:prstGeom prst="rect">
            <a:avLst/>
          </a:prstGeom>
        </p:spPr>
      </p:pic>
      <p:sp>
        <p:nvSpPr>
          <p:cNvPr id="5" name="TextBox 4">
            <a:extLst>
              <a:ext uri="{FF2B5EF4-FFF2-40B4-BE49-F238E27FC236}">
                <a16:creationId xmlns:a16="http://schemas.microsoft.com/office/drawing/2014/main" id="{3F50F25A-4181-D271-3091-0BFABE1E8778}"/>
              </a:ext>
            </a:extLst>
          </p:cNvPr>
          <p:cNvSpPr txBox="1"/>
          <p:nvPr/>
        </p:nvSpPr>
        <p:spPr>
          <a:xfrm>
            <a:off x="5760175" y="173855"/>
            <a:ext cx="3547" cy="6564733"/>
          </a:xfrm>
          <a:prstGeom prst="rect">
            <a:avLst/>
          </a:prstGeom>
          <a:solidFill>
            <a:schemeClr val="accent1"/>
          </a:solidFill>
          <a:ln w="57150">
            <a:solidFill>
              <a:schemeClr val="accent3"/>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2" name="Title 1"/>
          <p:cNvSpPr>
            <a:spLocks noGrp="1"/>
          </p:cNvSpPr>
          <p:nvPr>
            <p:ph type="ctrTitle"/>
          </p:nvPr>
        </p:nvSpPr>
        <p:spPr>
          <a:xfrm>
            <a:off x="5659770" y="732106"/>
            <a:ext cx="4987793" cy="3453431"/>
          </a:xfrm>
        </p:spPr>
        <p:txBody>
          <a:bodyPr vert="horz" lIns="91440" tIns="45720" rIns="91440" bIns="45720" rtlCol="0" anchor="t">
            <a:normAutofit fontScale="90000"/>
          </a:bodyPr>
          <a:lstStyle/>
          <a:p>
            <a:pPr>
              <a:lnSpc>
                <a:spcPct val="150000"/>
              </a:lnSpc>
              <a:spcBef>
                <a:spcPts val="0"/>
              </a:spcBef>
            </a:pPr>
            <a:r>
              <a:rPr lang="en-US" sz="2800" b="1">
                <a:solidFill>
                  <a:schemeClr val="accent3"/>
                </a:solidFill>
                <a:latin typeface="Georgia"/>
                <a:ea typeface="+mj-lt"/>
                <a:cs typeface="+mj-lt"/>
              </a:rPr>
              <a:t>Data 607</a:t>
            </a:r>
            <a:br>
              <a:rPr lang="en-US" sz="4000" b="1" dirty="0">
                <a:solidFill>
                  <a:schemeClr val="accent3"/>
                </a:solidFill>
                <a:latin typeface="Georgia"/>
                <a:ea typeface="+mj-lt"/>
                <a:cs typeface="+mj-lt"/>
              </a:rPr>
            </a:br>
            <a:r>
              <a:rPr lang="en-US" sz="4000" b="1">
                <a:solidFill>
                  <a:schemeClr val="accent3">
                    <a:lumMod val="76000"/>
                  </a:schemeClr>
                </a:solidFill>
                <a:latin typeface="Georgia"/>
                <a:ea typeface="+mj-lt"/>
                <a:cs typeface="+mj-lt"/>
              </a:rPr>
              <a:t>Final Project:</a:t>
            </a:r>
            <a:br>
              <a:rPr lang="en-US" sz="4000" b="1" dirty="0">
                <a:solidFill>
                  <a:schemeClr val="accent3">
                    <a:lumMod val="76000"/>
                  </a:schemeClr>
                </a:solidFill>
                <a:latin typeface="Georgia"/>
                <a:ea typeface="+mj-lt"/>
                <a:cs typeface="+mj-lt"/>
              </a:rPr>
            </a:br>
            <a:r>
              <a:rPr lang="en-US" sz="4000" b="1" dirty="0">
                <a:solidFill>
                  <a:srgbClr val="FFFFFF"/>
                </a:solidFill>
                <a:latin typeface="Georgia"/>
                <a:ea typeface="+mj-lt"/>
                <a:cs typeface="+mj-lt"/>
              </a:rPr>
              <a:t> </a:t>
            </a:r>
            <a:r>
              <a:rPr lang="en-US" sz="2400" b="1" dirty="0">
                <a:solidFill>
                  <a:schemeClr val="accent3"/>
                </a:solidFill>
                <a:latin typeface="Georgia"/>
                <a:ea typeface="+mj-lt"/>
                <a:cs typeface="+mj-lt"/>
              </a:rPr>
              <a:t>Tracking Grocery Spending</a:t>
            </a:r>
            <a:br>
              <a:rPr lang="en-US" sz="2400" b="1" dirty="0">
                <a:latin typeface="Georgia"/>
                <a:ea typeface="+mj-lt"/>
                <a:cs typeface="+mj-lt"/>
              </a:rPr>
            </a:br>
            <a:r>
              <a:rPr lang="en-US" sz="2400" b="1" dirty="0">
                <a:solidFill>
                  <a:schemeClr val="accent3"/>
                </a:solidFill>
                <a:latin typeface="Georgia"/>
                <a:ea typeface="+mj-lt"/>
                <a:cs typeface="+mj-lt"/>
              </a:rPr>
              <a:t> from a Consumer Perspective </a:t>
            </a:r>
            <a:br>
              <a:rPr lang="en-US" sz="2400" b="1" dirty="0">
                <a:latin typeface="Georgia"/>
                <a:ea typeface="+mj-lt"/>
                <a:cs typeface="+mj-lt"/>
              </a:rPr>
            </a:br>
            <a:r>
              <a:rPr lang="en-US" sz="2400" b="1" dirty="0">
                <a:solidFill>
                  <a:schemeClr val="accent3"/>
                </a:solidFill>
                <a:latin typeface="Georgia"/>
                <a:ea typeface="+mj-lt"/>
                <a:cs typeface="+mj-lt"/>
              </a:rPr>
              <a:t>Over a Three-Year Period"</a:t>
            </a:r>
            <a:endParaRPr lang="en-US" sz="2400" b="1" dirty="0">
              <a:solidFill>
                <a:schemeClr val="accent3"/>
              </a:solidFill>
              <a:latin typeface="Georgia"/>
            </a:endParaRPr>
          </a:p>
        </p:txBody>
      </p:sp>
      <p:sp>
        <p:nvSpPr>
          <p:cNvPr id="3" name="Subtitle 2"/>
          <p:cNvSpPr>
            <a:spLocks noGrp="1"/>
          </p:cNvSpPr>
          <p:nvPr>
            <p:ph type="subTitle" idx="1"/>
          </p:nvPr>
        </p:nvSpPr>
        <p:spPr>
          <a:xfrm>
            <a:off x="5956824" y="5051886"/>
            <a:ext cx="4987793" cy="1263985"/>
          </a:xfrm>
        </p:spPr>
        <p:txBody>
          <a:bodyPr vert="horz" lIns="91440" tIns="45720" rIns="91440" bIns="45720" rtlCol="0" anchor="t">
            <a:normAutofit/>
          </a:bodyPr>
          <a:lstStyle/>
          <a:p>
            <a:r>
              <a:rPr lang="en-US" sz="2000" b="1">
                <a:solidFill>
                  <a:schemeClr val="accent3"/>
                </a:solidFill>
                <a:latin typeface="Georgia"/>
                <a:ea typeface="+mn-lt"/>
                <a:cs typeface="+mn-lt"/>
              </a:rPr>
              <a:t>Madina Kudanova</a:t>
            </a:r>
            <a:endParaRPr lang="en-US" b="1">
              <a:solidFill>
                <a:schemeClr val="accent3"/>
              </a:solidFill>
              <a:latin typeface="Georgia"/>
            </a:endParaRPr>
          </a:p>
        </p:txBody>
      </p:sp>
      <p:sp>
        <p:nvSpPr>
          <p:cNvPr id="8" name="TextBox 7">
            <a:extLst>
              <a:ext uri="{FF2B5EF4-FFF2-40B4-BE49-F238E27FC236}">
                <a16:creationId xmlns:a16="http://schemas.microsoft.com/office/drawing/2014/main" id="{D3627143-2389-E528-ED28-15007654E48C}"/>
              </a:ext>
            </a:extLst>
          </p:cNvPr>
          <p:cNvSpPr txBox="1"/>
          <p:nvPr/>
        </p:nvSpPr>
        <p:spPr>
          <a:xfrm>
            <a:off x="6030552" y="4325644"/>
            <a:ext cx="4843141" cy="38100"/>
          </a:xfrm>
          <a:prstGeom prst="rect">
            <a:avLst/>
          </a:prstGeom>
          <a:solidFill>
            <a:schemeClr val="accent3">
              <a:lumMod val="75000"/>
            </a:schemeClr>
          </a:solidFill>
          <a:ln w="28575">
            <a:solidFill>
              <a:schemeClr val="accent3"/>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4" name="TextBox 13">
            <a:extLst>
              <a:ext uri="{FF2B5EF4-FFF2-40B4-BE49-F238E27FC236}">
                <a16:creationId xmlns:a16="http://schemas.microsoft.com/office/drawing/2014/main" id="{51A3B047-2268-BEE4-00D2-4CAFB71DA0DF}"/>
              </a:ext>
            </a:extLst>
          </p:cNvPr>
          <p:cNvSpPr txBox="1"/>
          <p:nvPr/>
        </p:nvSpPr>
        <p:spPr>
          <a:xfrm flipV="1">
            <a:off x="6030552" y="2446532"/>
            <a:ext cx="4843141" cy="7882"/>
          </a:xfrm>
          <a:prstGeom prst="rect">
            <a:avLst/>
          </a:prstGeom>
          <a:noFill/>
          <a:ln w="28575">
            <a:solidFill>
              <a:schemeClr val="accent3"/>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een bag with various vegetables&#10;&#10;AI-generated content may be incorrect.">
            <a:extLst>
              <a:ext uri="{FF2B5EF4-FFF2-40B4-BE49-F238E27FC236}">
                <a16:creationId xmlns:a16="http://schemas.microsoft.com/office/drawing/2014/main" id="{1E936F15-C706-C1C9-3B6A-735C156BA4CE}"/>
              </a:ext>
            </a:extLst>
          </p:cNvPr>
          <p:cNvPicPr>
            <a:picLocks noChangeAspect="1"/>
          </p:cNvPicPr>
          <p:nvPr/>
        </p:nvPicPr>
        <p:blipFill>
          <a:blip r:embed="rId2"/>
          <a:stretch>
            <a:fillRect/>
          </a:stretch>
        </p:blipFill>
        <p:spPr>
          <a:xfrm>
            <a:off x="596" y="-2015"/>
            <a:ext cx="12271884" cy="6863562"/>
          </a:xfrm>
          <a:prstGeom prst="rect">
            <a:avLst/>
          </a:prstGeom>
        </p:spPr>
      </p:pic>
      <p:sp>
        <p:nvSpPr>
          <p:cNvPr id="2" name="Title 1">
            <a:extLst>
              <a:ext uri="{FF2B5EF4-FFF2-40B4-BE49-F238E27FC236}">
                <a16:creationId xmlns:a16="http://schemas.microsoft.com/office/drawing/2014/main" id="{508E3A33-A892-6BB4-7C7E-212D83E6C16C}"/>
              </a:ext>
            </a:extLst>
          </p:cNvPr>
          <p:cNvSpPr>
            <a:spLocks noGrp="1"/>
          </p:cNvSpPr>
          <p:nvPr>
            <p:ph type="title"/>
          </p:nvPr>
        </p:nvSpPr>
        <p:spPr>
          <a:xfrm>
            <a:off x="4063562" y="365125"/>
            <a:ext cx="4866290" cy="1351837"/>
          </a:xfrm>
        </p:spPr>
        <p:txBody>
          <a:bodyPr>
            <a:normAutofit/>
          </a:bodyPr>
          <a:lstStyle/>
          <a:p>
            <a:r>
              <a:rPr lang="en-US" sz="3600" b="1">
                <a:solidFill>
                  <a:schemeClr val="accent3">
                    <a:lumMod val="76000"/>
                  </a:schemeClr>
                </a:solidFill>
                <a:latin typeface="Georgia"/>
                <a:ea typeface="+mj-lt"/>
                <a:cs typeface="+mj-lt"/>
              </a:rPr>
              <a:t>Research Questions</a:t>
            </a:r>
            <a:endParaRPr lang="en-US" b="1">
              <a:solidFill>
                <a:schemeClr val="accent3">
                  <a:lumMod val="76000"/>
                </a:schemeClr>
              </a:solidFill>
              <a:latin typeface="Georgia"/>
            </a:endParaRPr>
          </a:p>
        </p:txBody>
      </p:sp>
      <p:sp>
        <p:nvSpPr>
          <p:cNvPr id="3" name="Content Placeholder 2">
            <a:extLst>
              <a:ext uri="{FF2B5EF4-FFF2-40B4-BE49-F238E27FC236}">
                <a16:creationId xmlns:a16="http://schemas.microsoft.com/office/drawing/2014/main" id="{2AF5B332-86CF-E875-76F3-560BC23856D4}"/>
              </a:ext>
            </a:extLst>
          </p:cNvPr>
          <p:cNvSpPr>
            <a:spLocks noGrp="1"/>
          </p:cNvSpPr>
          <p:nvPr>
            <p:ph idx="1"/>
          </p:nvPr>
        </p:nvSpPr>
        <p:spPr>
          <a:xfrm>
            <a:off x="1541080" y="1516884"/>
            <a:ext cx="9451427" cy="4351338"/>
          </a:xfrm>
        </p:spPr>
        <p:txBody>
          <a:bodyPr vert="horz" lIns="91440" tIns="45720" rIns="91440" bIns="45720" rtlCol="0" anchor="t">
            <a:normAutofit/>
          </a:bodyPr>
          <a:lstStyle/>
          <a:p>
            <a:pPr>
              <a:lnSpc>
                <a:spcPct val="150000"/>
              </a:lnSpc>
            </a:pPr>
            <a:r>
              <a:rPr lang="en-US" sz="2200" dirty="0">
                <a:solidFill>
                  <a:schemeClr val="accent3">
                    <a:lumMod val="76000"/>
                  </a:schemeClr>
                </a:solidFill>
                <a:latin typeface="Georgia"/>
                <a:ea typeface="+mn-lt"/>
                <a:cs typeface="+mn-lt"/>
              </a:rPr>
              <a:t>Primary: How have prices of consistently purchased grocery items changed between 2024 and 2026, and how do these changes compare to the official U.S. food inflation rate reported by the Bureau of Labor Statistics?</a:t>
            </a:r>
            <a:endParaRPr lang="en-US" sz="2200">
              <a:solidFill>
                <a:schemeClr val="accent3">
                  <a:lumMod val="76000"/>
                </a:schemeClr>
              </a:solidFill>
              <a:latin typeface="Georgia"/>
            </a:endParaRPr>
          </a:p>
          <a:p>
            <a:pPr>
              <a:lnSpc>
                <a:spcPct val="150000"/>
              </a:lnSpc>
            </a:pPr>
            <a:r>
              <a:rPr lang="en-US" sz="2200">
                <a:solidFill>
                  <a:schemeClr val="accent3">
                    <a:lumMod val="76000"/>
                  </a:schemeClr>
                </a:solidFill>
                <a:latin typeface="Georgia"/>
                <a:ea typeface="+mn-lt"/>
                <a:cs typeface="+mn-lt"/>
              </a:rPr>
              <a:t>Secondary: Do Amazon Prime membership discounts at Whole Foods offset rising prices over the same period?</a:t>
            </a:r>
            <a:endParaRPr lang="en-US" sz="2200">
              <a:solidFill>
                <a:schemeClr val="accent3">
                  <a:lumMod val="76000"/>
                </a:schemeClr>
              </a:solidFill>
              <a:latin typeface="Georgia"/>
            </a:endParaRPr>
          </a:p>
          <a:p>
            <a:endParaRPr lang="en-US" dirty="0"/>
          </a:p>
        </p:txBody>
      </p:sp>
      <p:sp>
        <p:nvSpPr>
          <p:cNvPr id="4" name="TextBox 3">
            <a:extLst>
              <a:ext uri="{FF2B5EF4-FFF2-40B4-BE49-F238E27FC236}">
                <a16:creationId xmlns:a16="http://schemas.microsoft.com/office/drawing/2014/main" id="{77834230-41C1-E25D-9D8D-4A892D0DBA0A}"/>
              </a:ext>
            </a:extLst>
          </p:cNvPr>
          <p:cNvSpPr txBox="1"/>
          <p:nvPr/>
        </p:nvSpPr>
        <p:spPr>
          <a:xfrm>
            <a:off x="3515484" y="1365055"/>
            <a:ext cx="5684613" cy="9349"/>
          </a:xfrm>
          <a:prstGeom prst="rect">
            <a:avLst/>
          </a:prstGeom>
          <a:solidFill>
            <a:schemeClr val="accent3">
              <a:lumMod val="75000"/>
            </a:schemeClr>
          </a:solidFill>
          <a:ln w="28575">
            <a:solidFill>
              <a:schemeClr val="accent3">
                <a:lumMod val="75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3769617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een bag with various vegetables&#10;&#10;AI-generated content may be incorrect.">
            <a:extLst>
              <a:ext uri="{FF2B5EF4-FFF2-40B4-BE49-F238E27FC236}">
                <a16:creationId xmlns:a16="http://schemas.microsoft.com/office/drawing/2014/main" id="{D23A9DD2-C9FE-1CC3-0872-0EBB2188DE16}"/>
              </a:ext>
            </a:extLst>
          </p:cNvPr>
          <p:cNvPicPr>
            <a:picLocks noChangeAspect="1"/>
          </p:cNvPicPr>
          <p:nvPr/>
        </p:nvPicPr>
        <p:blipFill>
          <a:blip r:embed="rId2"/>
          <a:stretch>
            <a:fillRect/>
          </a:stretch>
        </p:blipFill>
        <p:spPr>
          <a:xfrm>
            <a:off x="-77273" y="-4675"/>
            <a:ext cx="12271884" cy="6863562"/>
          </a:xfrm>
          <a:prstGeom prst="rect">
            <a:avLst/>
          </a:prstGeom>
        </p:spPr>
      </p:pic>
      <p:sp>
        <p:nvSpPr>
          <p:cNvPr id="2" name="Title 1">
            <a:extLst>
              <a:ext uri="{FF2B5EF4-FFF2-40B4-BE49-F238E27FC236}">
                <a16:creationId xmlns:a16="http://schemas.microsoft.com/office/drawing/2014/main" id="{7637079B-337A-B5DE-C356-52AA645809DE}"/>
              </a:ext>
            </a:extLst>
          </p:cNvPr>
          <p:cNvSpPr>
            <a:spLocks noGrp="1"/>
          </p:cNvSpPr>
          <p:nvPr>
            <p:ph type="title"/>
          </p:nvPr>
        </p:nvSpPr>
        <p:spPr>
          <a:xfrm>
            <a:off x="3848801" y="365125"/>
            <a:ext cx="4681392" cy="1339586"/>
          </a:xfrm>
        </p:spPr>
        <p:txBody>
          <a:bodyPr>
            <a:normAutofit/>
          </a:bodyPr>
          <a:lstStyle/>
          <a:p>
            <a:pPr>
              <a:spcBef>
                <a:spcPts val="0"/>
              </a:spcBef>
            </a:pPr>
            <a:r>
              <a:rPr lang="en-US" sz="3600" b="1">
                <a:solidFill>
                  <a:schemeClr val="accent3">
                    <a:lumMod val="76000"/>
                  </a:schemeClr>
                </a:solidFill>
                <a:latin typeface="Georgia"/>
              </a:rPr>
              <a:t>Motivation</a:t>
            </a:r>
          </a:p>
        </p:txBody>
      </p:sp>
      <p:pic>
        <p:nvPicPr>
          <p:cNvPr id="6" name="Content Placeholder 5">
            <a:extLst>
              <a:ext uri="{FF2B5EF4-FFF2-40B4-BE49-F238E27FC236}">
                <a16:creationId xmlns:a16="http://schemas.microsoft.com/office/drawing/2014/main" id="{E3BF8628-F889-A522-9CD1-28B5916273FB}"/>
              </a:ext>
            </a:extLst>
          </p:cNvPr>
          <p:cNvPicPr>
            <a:picLocks noGrp="1" noChangeAspect="1"/>
          </p:cNvPicPr>
          <p:nvPr>
            <p:ph idx="1"/>
          </p:nvPr>
        </p:nvPicPr>
        <p:blipFill>
          <a:blip r:embed="rId3"/>
          <a:stretch>
            <a:fillRect/>
          </a:stretch>
        </p:blipFill>
        <p:spPr>
          <a:xfrm>
            <a:off x="300809" y="261663"/>
            <a:ext cx="1638637" cy="4114800"/>
          </a:xfrm>
          <a:prstGeom prst="rect">
            <a:avLst/>
          </a:prstGeom>
        </p:spPr>
      </p:pic>
      <p:sp>
        <p:nvSpPr>
          <p:cNvPr id="4" name="TextBox 3">
            <a:extLst>
              <a:ext uri="{FF2B5EF4-FFF2-40B4-BE49-F238E27FC236}">
                <a16:creationId xmlns:a16="http://schemas.microsoft.com/office/drawing/2014/main" id="{E52C61B7-0548-E150-4D3A-AE00E763FC85}"/>
              </a:ext>
            </a:extLst>
          </p:cNvPr>
          <p:cNvSpPr txBox="1"/>
          <p:nvPr/>
        </p:nvSpPr>
        <p:spPr>
          <a:xfrm>
            <a:off x="3328491" y="1430502"/>
            <a:ext cx="3814674" cy="9349"/>
          </a:xfrm>
          <a:prstGeom prst="rect">
            <a:avLst/>
          </a:prstGeom>
          <a:solidFill>
            <a:schemeClr val="accent3">
              <a:lumMod val="75000"/>
            </a:schemeClr>
          </a:solidFill>
          <a:ln w="28575">
            <a:solidFill>
              <a:schemeClr val="accent3">
                <a:lumMod val="75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8" name="Content Placeholder 5">
            <a:extLst>
              <a:ext uri="{FF2B5EF4-FFF2-40B4-BE49-F238E27FC236}">
                <a16:creationId xmlns:a16="http://schemas.microsoft.com/office/drawing/2014/main" id="{CE06A443-FCFA-AF48-263E-3021A3ED5FDC}"/>
              </a:ext>
            </a:extLst>
          </p:cNvPr>
          <p:cNvPicPr>
            <a:picLocks noChangeAspect="1"/>
          </p:cNvPicPr>
          <p:nvPr/>
        </p:nvPicPr>
        <p:blipFill>
          <a:blip r:embed="rId3"/>
          <a:stretch>
            <a:fillRect/>
          </a:stretch>
        </p:blipFill>
        <p:spPr>
          <a:xfrm>
            <a:off x="731312" y="681041"/>
            <a:ext cx="1638637" cy="4114800"/>
          </a:xfrm>
          <a:prstGeom prst="rect">
            <a:avLst/>
          </a:prstGeom>
        </p:spPr>
      </p:pic>
      <p:pic>
        <p:nvPicPr>
          <p:cNvPr id="12" name="Content Placeholder 5">
            <a:extLst>
              <a:ext uri="{FF2B5EF4-FFF2-40B4-BE49-F238E27FC236}">
                <a16:creationId xmlns:a16="http://schemas.microsoft.com/office/drawing/2014/main" id="{07F0709D-3E02-F492-C900-5C4187439FED}"/>
              </a:ext>
            </a:extLst>
          </p:cNvPr>
          <p:cNvPicPr>
            <a:picLocks noChangeAspect="1"/>
          </p:cNvPicPr>
          <p:nvPr/>
        </p:nvPicPr>
        <p:blipFill>
          <a:blip r:embed="rId3"/>
          <a:stretch>
            <a:fillRect/>
          </a:stretch>
        </p:blipFill>
        <p:spPr>
          <a:xfrm>
            <a:off x="301921" y="1230571"/>
            <a:ext cx="1638637" cy="4114800"/>
          </a:xfrm>
          <a:prstGeom prst="rect">
            <a:avLst/>
          </a:prstGeom>
        </p:spPr>
      </p:pic>
      <p:pic>
        <p:nvPicPr>
          <p:cNvPr id="14" name="Content Placeholder 5">
            <a:extLst>
              <a:ext uri="{FF2B5EF4-FFF2-40B4-BE49-F238E27FC236}">
                <a16:creationId xmlns:a16="http://schemas.microsoft.com/office/drawing/2014/main" id="{FC271A4B-BF01-6C33-CC3C-93125DF0F084}"/>
              </a:ext>
            </a:extLst>
          </p:cNvPr>
          <p:cNvPicPr>
            <a:picLocks noChangeAspect="1"/>
          </p:cNvPicPr>
          <p:nvPr/>
        </p:nvPicPr>
        <p:blipFill>
          <a:blip r:embed="rId3"/>
          <a:stretch>
            <a:fillRect/>
          </a:stretch>
        </p:blipFill>
        <p:spPr>
          <a:xfrm>
            <a:off x="743548" y="1716693"/>
            <a:ext cx="1638637" cy="4114800"/>
          </a:xfrm>
          <a:prstGeom prst="rect">
            <a:avLst/>
          </a:prstGeom>
        </p:spPr>
      </p:pic>
      <p:pic>
        <p:nvPicPr>
          <p:cNvPr id="16" name="Content Placeholder 5">
            <a:extLst>
              <a:ext uri="{FF2B5EF4-FFF2-40B4-BE49-F238E27FC236}">
                <a16:creationId xmlns:a16="http://schemas.microsoft.com/office/drawing/2014/main" id="{FB527659-F122-5B34-E058-0FCAB5080E19}"/>
              </a:ext>
            </a:extLst>
          </p:cNvPr>
          <p:cNvPicPr>
            <a:picLocks noChangeAspect="1"/>
          </p:cNvPicPr>
          <p:nvPr/>
        </p:nvPicPr>
        <p:blipFill>
          <a:blip r:embed="rId3"/>
          <a:stretch>
            <a:fillRect/>
          </a:stretch>
        </p:blipFill>
        <p:spPr>
          <a:xfrm>
            <a:off x="300810" y="2186130"/>
            <a:ext cx="1638637" cy="4114800"/>
          </a:xfrm>
          <a:prstGeom prst="rect">
            <a:avLst/>
          </a:prstGeom>
        </p:spPr>
      </p:pic>
      <p:pic>
        <p:nvPicPr>
          <p:cNvPr id="10" name="Content Placeholder 5">
            <a:extLst>
              <a:ext uri="{FF2B5EF4-FFF2-40B4-BE49-F238E27FC236}">
                <a16:creationId xmlns:a16="http://schemas.microsoft.com/office/drawing/2014/main" id="{516B893F-387B-A1A2-167F-020C6A90C3CF}"/>
              </a:ext>
            </a:extLst>
          </p:cNvPr>
          <p:cNvPicPr>
            <a:picLocks noChangeAspect="1"/>
          </p:cNvPicPr>
          <p:nvPr/>
        </p:nvPicPr>
        <p:blipFill>
          <a:blip r:embed="rId3"/>
          <a:stretch>
            <a:fillRect/>
          </a:stretch>
        </p:blipFill>
        <p:spPr>
          <a:xfrm>
            <a:off x="499931" y="2602172"/>
            <a:ext cx="1638637" cy="4114800"/>
          </a:xfrm>
          <a:prstGeom prst="rect">
            <a:avLst/>
          </a:prstGeom>
        </p:spPr>
      </p:pic>
      <p:sp>
        <p:nvSpPr>
          <p:cNvPr id="17" name="TextBox 16">
            <a:extLst>
              <a:ext uri="{FF2B5EF4-FFF2-40B4-BE49-F238E27FC236}">
                <a16:creationId xmlns:a16="http://schemas.microsoft.com/office/drawing/2014/main" id="{AEADE2C4-A923-07BD-C982-C29E2EB65C46}"/>
              </a:ext>
            </a:extLst>
          </p:cNvPr>
          <p:cNvSpPr txBox="1"/>
          <p:nvPr/>
        </p:nvSpPr>
        <p:spPr>
          <a:xfrm>
            <a:off x="2384480" y="1704613"/>
            <a:ext cx="9059851" cy="33490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400" dirty="0">
                <a:solidFill>
                  <a:schemeClr val="accent3">
                    <a:lumMod val="76000"/>
                  </a:schemeClr>
                </a:solidFill>
                <a:latin typeface="Georgia"/>
                <a:ea typeface="+mn-lt"/>
                <a:cs typeface="+mn-lt"/>
              </a:rPr>
              <a:t>I've collected Whole Foods receipts over three years and wanted to analyze my own spending patterns. This project transforms that personal archive into a structured dataset to answer a question that affects everyday life: How much have grocery prices actually changed, and does the official inflation</a:t>
            </a:r>
          </a:p>
          <a:p>
            <a:pPr>
              <a:lnSpc>
                <a:spcPct val="150000"/>
              </a:lnSpc>
            </a:pPr>
            <a:r>
              <a:rPr lang="en-US" sz="2400" dirty="0">
                <a:solidFill>
                  <a:schemeClr val="accent3">
                    <a:lumMod val="76000"/>
                  </a:schemeClr>
                </a:solidFill>
                <a:latin typeface="Georgia"/>
                <a:ea typeface="+mn-lt"/>
                <a:cs typeface="+mn-lt"/>
              </a:rPr>
              <a:t> rate reflect what real consumers experience?</a:t>
            </a:r>
            <a:endParaRPr lang="en-US" sz="2400">
              <a:solidFill>
                <a:schemeClr val="accent3">
                  <a:lumMod val="76000"/>
                </a:schemeClr>
              </a:solidFill>
              <a:latin typeface="Georgia"/>
            </a:endParaRPr>
          </a:p>
        </p:txBody>
      </p:sp>
    </p:spTree>
    <p:extLst>
      <p:ext uri="{BB962C8B-B14F-4D97-AF65-F5344CB8AC3E}">
        <p14:creationId xmlns:p14="http://schemas.microsoft.com/office/powerpoint/2010/main" val="29279773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een bag with various vegetables&#10;&#10;AI-generated content may be incorrect.">
            <a:extLst>
              <a:ext uri="{FF2B5EF4-FFF2-40B4-BE49-F238E27FC236}">
                <a16:creationId xmlns:a16="http://schemas.microsoft.com/office/drawing/2014/main" id="{03AC21E8-0320-6AEF-8596-8A9A09E5A909}"/>
              </a:ext>
            </a:extLst>
          </p:cNvPr>
          <p:cNvPicPr>
            <a:picLocks noChangeAspect="1"/>
          </p:cNvPicPr>
          <p:nvPr/>
        </p:nvPicPr>
        <p:blipFill>
          <a:blip r:embed="rId2"/>
          <a:stretch>
            <a:fillRect/>
          </a:stretch>
        </p:blipFill>
        <p:spPr>
          <a:xfrm>
            <a:off x="596" y="0"/>
            <a:ext cx="12271884" cy="6863562"/>
          </a:xfrm>
          <a:prstGeom prst="rect">
            <a:avLst/>
          </a:prstGeom>
        </p:spPr>
      </p:pic>
      <p:sp>
        <p:nvSpPr>
          <p:cNvPr id="2" name="Title 1">
            <a:extLst>
              <a:ext uri="{FF2B5EF4-FFF2-40B4-BE49-F238E27FC236}">
                <a16:creationId xmlns:a16="http://schemas.microsoft.com/office/drawing/2014/main" id="{C0A3775E-36B6-A416-505B-7453D320A322}"/>
              </a:ext>
            </a:extLst>
          </p:cNvPr>
          <p:cNvSpPr>
            <a:spLocks noGrp="1"/>
          </p:cNvSpPr>
          <p:nvPr>
            <p:ph type="title"/>
          </p:nvPr>
        </p:nvSpPr>
        <p:spPr>
          <a:xfrm>
            <a:off x="3755304" y="369800"/>
            <a:ext cx="4288705" cy="1344260"/>
          </a:xfrm>
        </p:spPr>
        <p:txBody>
          <a:bodyPr>
            <a:normAutofit/>
          </a:bodyPr>
          <a:lstStyle/>
          <a:p>
            <a:pPr>
              <a:spcBef>
                <a:spcPts val="0"/>
              </a:spcBef>
            </a:pPr>
            <a:r>
              <a:rPr lang="en-US" sz="3200" b="1">
                <a:solidFill>
                  <a:schemeClr val="accent3">
                    <a:lumMod val="76000"/>
                  </a:schemeClr>
                </a:solidFill>
                <a:latin typeface="Georgia"/>
                <a:ea typeface="+mj-lt"/>
                <a:cs typeface="+mj-lt"/>
              </a:rPr>
              <a:t>Focus of Analysis </a:t>
            </a:r>
            <a:endParaRPr lang="en-US" sz="3200" b="1">
              <a:solidFill>
                <a:schemeClr val="accent3">
                  <a:lumMod val="76000"/>
                </a:schemeClr>
              </a:solidFill>
              <a:latin typeface="Georgia"/>
            </a:endParaRPr>
          </a:p>
        </p:txBody>
      </p:sp>
      <p:sp>
        <p:nvSpPr>
          <p:cNvPr id="3" name="Content Placeholder 2">
            <a:extLst>
              <a:ext uri="{FF2B5EF4-FFF2-40B4-BE49-F238E27FC236}">
                <a16:creationId xmlns:a16="http://schemas.microsoft.com/office/drawing/2014/main" id="{027AA204-CF94-8195-0F5A-AB81ACB553F5}"/>
              </a:ext>
            </a:extLst>
          </p:cNvPr>
          <p:cNvSpPr>
            <a:spLocks noGrp="1"/>
          </p:cNvSpPr>
          <p:nvPr>
            <p:ph idx="1"/>
          </p:nvPr>
        </p:nvSpPr>
        <p:spPr>
          <a:xfrm>
            <a:off x="1936789" y="2073392"/>
            <a:ext cx="7925735" cy="3257424"/>
          </a:xfrm>
        </p:spPr>
        <p:txBody>
          <a:bodyPr vert="horz" lIns="91440" tIns="45720" rIns="91440" bIns="45720" rtlCol="0" anchor="t">
            <a:normAutofit/>
          </a:bodyPr>
          <a:lstStyle/>
          <a:p>
            <a:pPr marL="0" indent="0">
              <a:buNone/>
            </a:pPr>
            <a:r>
              <a:rPr lang="en-US" b="1">
                <a:solidFill>
                  <a:schemeClr val="accent3">
                    <a:lumMod val="76000"/>
                  </a:schemeClr>
                </a:solidFill>
                <a:latin typeface="Georgia"/>
                <a:ea typeface="+mn-lt"/>
                <a:cs typeface="+mn-lt"/>
              </a:rPr>
              <a:t>Main analysis:</a:t>
            </a:r>
            <a:endParaRPr lang="en-US">
              <a:solidFill>
                <a:schemeClr val="accent3">
                  <a:lumMod val="76000"/>
                </a:schemeClr>
              </a:solidFill>
              <a:latin typeface="Georgia"/>
            </a:endParaRPr>
          </a:p>
          <a:p>
            <a:r>
              <a:rPr lang="en-US">
                <a:solidFill>
                  <a:schemeClr val="accent3">
                    <a:lumMod val="76000"/>
                  </a:schemeClr>
                </a:solidFill>
                <a:latin typeface="Georgia"/>
                <a:ea typeface="+mn-lt"/>
                <a:cs typeface="+mn-lt"/>
              </a:rPr>
              <a:t>Price trends per item (2024-2026)</a:t>
            </a:r>
          </a:p>
          <a:p>
            <a:r>
              <a:rPr lang="en-US">
                <a:solidFill>
                  <a:schemeClr val="accent3">
                    <a:lumMod val="76000"/>
                  </a:schemeClr>
                </a:solidFill>
                <a:latin typeface="Georgia"/>
                <a:ea typeface="+mn-lt"/>
                <a:cs typeface="+mn-lt"/>
              </a:rPr>
              <a:t>Observed basket price change rate vs BLS CPI</a:t>
            </a:r>
          </a:p>
          <a:p>
            <a:pPr marL="0" indent="0">
              <a:buNone/>
            </a:pPr>
            <a:r>
              <a:rPr lang="en-US" b="1">
                <a:solidFill>
                  <a:schemeClr val="accent3">
                    <a:lumMod val="76000"/>
                  </a:schemeClr>
                </a:solidFill>
                <a:latin typeface="Georgia"/>
              </a:rPr>
              <a:t>Sub-analysis</a:t>
            </a:r>
            <a:r>
              <a:rPr lang="en-US" b="1" dirty="0">
                <a:solidFill>
                  <a:schemeClr val="accent3">
                    <a:lumMod val="76000"/>
                  </a:schemeClr>
                </a:solidFill>
                <a:latin typeface="Georgia"/>
              </a:rPr>
              <a:t>:</a:t>
            </a:r>
          </a:p>
          <a:p>
            <a:r>
              <a:rPr lang="en-US">
                <a:solidFill>
                  <a:schemeClr val="accent3">
                    <a:lumMod val="76000"/>
                  </a:schemeClr>
                </a:solidFill>
                <a:latin typeface="Georgia"/>
                <a:ea typeface="+mn-lt"/>
                <a:cs typeface="+mn-lt"/>
              </a:rPr>
              <a:t>Whether Prime discounts offset rising prices</a:t>
            </a:r>
            <a:endParaRPr lang="en-US">
              <a:solidFill>
                <a:schemeClr val="accent3">
                  <a:lumMod val="76000"/>
                </a:schemeClr>
              </a:solidFill>
              <a:latin typeface="Georgia"/>
            </a:endParaRPr>
          </a:p>
          <a:p>
            <a:endParaRPr lang="en-US" dirty="0"/>
          </a:p>
        </p:txBody>
      </p:sp>
      <p:sp>
        <p:nvSpPr>
          <p:cNvPr id="4" name="TextBox 3">
            <a:extLst>
              <a:ext uri="{FF2B5EF4-FFF2-40B4-BE49-F238E27FC236}">
                <a16:creationId xmlns:a16="http://schemas.microsoft.com/office/drawing/2014/main" id="{84BDA747-4D24-4737-6DF5-A79B22FEAE86}"/>
              </a:ext>
            </a:extLst>
          </p:cNvPr>
          <p:cNvSpPr txBox="1"/>
          <p:nvPr/>
        </p:nvSpPr>
        <p:spPr>
          <a:xfrm>
            <a:off x="3398614" y="1439853"/>
            <a:ext cx="4263460" cy="9349"/>
          </a:xfrm>
          <a:prstGeom prst="rect">
            <a:avLst/>
          </a:prstGeom>
          <a:solidFill>
            <a:schemeClr val="accent3">
              <a:lumMod val="75000"/>
            </a:schemeClr>
          </a:solidFill>
          <a:ln w="28575">
            <a:solidFill>
              <a:schemeClr val="accent3">
                <a:lumMod val="75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713537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een bag with various vegetables&#10;&#10;AI-generated content may be incorrect.">
            <a:extLst>
              <a:ext uri="{FF2B5EF4-FFF2-40B4-BE49-F238E27FC236}">
                <a16:creationId xmlns:a16="http://schemas.microsoft.com/office/drawing/2014/main" id="{8BEAC425-DCCC-048C-0D5A-DF0FBF5A3D86}"/>
              </a:ext>
            </a:extLst>
          </p:cNvPr>
          <p:cNvPicPr>
            <a:picLocks noChangeAspect="1"/>
          </p:cNvPicPr>
          <p:nvPr/>
        </p:nvPicPr>
        <p:blipFill>
          <a:blip r:embed="rId2"/>
          <a:stretch>
            <a:fillRect/>
          </a:stretch>
        </p:blipFill>
        <p:spPr>
          <a:xfrm>
            <a:off x="413" y="709"/>
            <a:ext cx="12271884" cy="6863562"/>
          </a:xfrm>
          <a:prstGeom prst="rect">
            <a:avLst/>
          </a:prstGeom>
        </p:spPr>
      </p:pic>
      <p:sp>
        <p:nvSpPr>
          <p:cNvPr id="2" name="Title 1">
            <a:extLst>
              <a:ext uri="{FF2B5EF4-FFF2-40B4-BE49-F238E27FC236}">
                <a16:creationId xmlns:a16="http://schemas.microsoft.com/office/drawing/2014/main" id="{9C59E86C-27F9-4019-F9D3-4E93B5E265FA}"/>
              </a:ext>
            </a:extLst>
          </p:cNvPr>
          <p:cNvSpPr>
            <a:spLocks noGrp="1"/>
          </p:cNvSpPr>
          <p:nvPr>
            <p:ph type="title"/>
          </p:nvPr>
        </p:nvSpPr>
        <p:spPr>
          <a:xfrm>
            <a:off x="3049403" y="388499"/>
            <a:ext cx="5167576" cy="1110521"/>
          </a:xfrm>
        </p:spPr>
        <p:txBody>
          <a:bodyPr>
            <a:normAutofit/>
          </a:bodyPr>
          <a:lstStyle/>
          <a:p>
            <a:r>
              <a:rPr lang="en-US" sz="3600" b="1">
                <a:solidFill>
                  <a:schemeClr val="accent3">
                    <a:lumMod val="76000"/>
                  </a:schemeClr>
                </a:solidFill>
                <a:latin typeface="Georgia"/>
              </a:rPr>
              <a:t>Analysis Workflow</a:t>
            </a:r>
          </a:p>
        </p:txBody>
      </p:sp>
      <p:sp>
        <p:nvSpPr>
          <p:cNvPr id="3" name="Content Placeholder 2">
            <a:extLst>
              <a:ext uri="{FF2B5EF4-FFF2-40B4-BE49-F238E27FC236}">
                <a16:creationId xmlns:a16="http://schemas.microsoft.com/office/drawing/2014/main" id="{8CBCD0F7-69F0-E670-1F4E-53DADAA5344D}"/>
              </a:ext>
            </a:extLst>
          </p:cNvPr>
          <p:cNvSpPr>
            <a:spLocks noGrp="1"/>
          </p:cNvSpPr>
          <p:nvPr>
            <p:ph idx="1"/>
          </p:nvPr>
        </p:nvSpPr>
        <p:spPr>
          <a:xfrm>
            <a:off x="1562801" y="1713429"/>
            <a:ext cx="9272091" cy="3332222"/>
          </a:xfrm>
        </p:spPr>
        <p:txBody>
          <a:bodyPr vert="horz" lIns="91440" tIns="45720" rIns="91440" bIns="45720" rtlCol="0" anchor="t">
            <a:normAutofit lnSpcReduction="10000"/>
          </a:bodyPr>
          <a:lstStyle/>
          <a:p>
            <a:pPr marL="0" indent="0">
              <a:lnSpc>
                <a:spcPct val="150000"/>
              </a:lnSpc>
              <a:buNone/>
            </a:pPr>
            <a:r>
              <a:rPr lang="en-US" sz="2000" b="1">
                <a:solidFill>
                  <a:schemeClr val="accent3">
                    <a:lumMod val="76000"/>
                  </a:schemeClr>
                </a:solidFill>
                <a:latin typeface="Georgia"/>
                <a:ea typeface="+mn-lt"/>
                <a:cs typeface="+mn-lt"/>
              </a:rPr>
              <a:t>Following the OSEMN framework:</a:t>
            </a:r>
            <a:endParaRPr lang="en-US" sz="2000">
              <a:solidFill>
                <a:schemeClr val="accent3">
                  <a:lumMod val="76000"/>
                </a:schemeClr>
              </a:solidFill>
              <a:latin typeface="Georgia"/>
            </a:endParaRPr>
          </a:p>
          <a:p>
            <a:pPr indent="0">
              <a:lnSpc>
                <a:spcPct val="150000"/>
              </a:lnSpc>
            </a:pPr>
            <a:r>
              <a:rPr lang="en-US" sz="2000" b="1">
                <a:solidFill>
                  <a:schemeClr val="accent3">
                    <a:lumMod val="76000"/>
                  </a:schemeClr>
                </a:solidFill>
                <a:latin typeface="Georgia"/>
                <a:ea typeface="+mn-lt"/>
                <a:cs typeface="+mn-lt"/>
              </a:rPr>
              <a:t>Obtain: </a:t>
            </a:r>
            <a:r>
              <a:rPr lang="en-US" sz="2000">
                <a:solidFill>
                  <a:schemeClr val="accent3">
                    <a:lumMod val="76000"/>
                  </a:schemeClr>
                </a:solidFill>
                <a:latin typeface="Georgia"/>
                <a:ea typeface="+mn-lt"/>
                <a:cs typeface="+mn-lt"/>
              </a:rPr>
              <a:t>Collected receipt photos + downloaded BLS CPI data</a:t>
            </a:r>
            <a:endParaRPr lang="en-US" sz="2000">
              <a:solidFill>
                <a:schemeClr val="accent3">
                  <a:lumMod val="76000"/>
                </a:schemeClr>
              </a:solidFill>
              <a:latin typeface="Georgia"/>
            </a:endParaRPr>
          </a:p>
          <a:p>
            <a:pPr indent="0">
              <a:lnSpc>
                <a:spcPct val="150000"/>
              </a:lnSpc>
            </a:pPr>
            <a:r>
              <a:rPr lang="en-US" sz="2000" b="1">
                <a:solidFill>
                  <a:schemeClr val="accent3">
                    <a:lumMod val="76000"/>
                  </a:schemeClr>
                </a:solidFill>
                <a:latin typeface="Georgia"/>
                <a:ea typeface="+mn-lt"/>
                <a:cs typeface="+mn-lt"/>
              </a:rPr>
              <a:t>Scrub: </a:t>
            </a:r>
            <a:r>
              <a:rPr lang="en-US" sz="2000">
                <a:solidFill>
                  <a:schemeClr val="accent3">
                    <a:lumMod val="76000"/>
                  </a:schemeClr>
                </a:solidFill>
                <a:latin typeface="Georgia"/>
                <a:ea typeface="+mn-lt"/>
                <a:cs typeface="+mn-lt"/>
              </a:rPr>
              <a:t>Standardized formats, handled OCR errors via synonym mapping</a:t>
            </a:r>
            <a:endParaRPr lang="en-US" sz="2000">
              <a:solidFill>
                <a:schemeClr val="accent3">
                  <a:lumMod val="76000"/>
                </a:schemeClr>
              </a:solidFill>
              <a:latin typeface="Georgia"/>
            </a:endParaRPr>
          </a:p>
          <a:p>
            <a:pPr indent="0">
              <a:lnSpc>
                <a:spcPct val="150000"/>
              </a:lnSpc>
            </a:pPr>
            <a:r>
              <a:rPr lang="en-US" sz="2000" b="1">
                <a:solidFill>
                  <a:schemeClr val="accent3">
                    <a:lumMod val="76000"/>
                  </a:schemeClr>
                </a:solidFill>
                <a:latin typeface="Georgia"/>
                <a:ea typeface="+mn-lt"/>
                <a:cs typeface="+mn-lt"/>
              </a:rPr>
              <a:t>Explore: </a:t>
            </a:r>
            <a:r>
              <a:rPr lang="en-US" sz="2000">
                <a:solidFill>
                  <a:schemeClr val="accent3">
                    <a:lumMod val="76000"/>
                  </a:schemeClr>
                </a:solidFill>
                <a:latin typeface="Georgia"/>
                <a:ea typeface="+mn-lt"/>
                <a:cs typeface="+mn-lt"/>
              </a:rPr>
              <a:t>Built monthly price trend visualizations per item</a:t>
            </a:r>
            <a:endParaRPr lang="en-US" sz="2000">
              <a:solidFill>
                <a:schemeClr val="accent3">
                  <a:lumMod val="76000"/>
                </a:schemeClr>
              </a:solidFill>
              <a:latin typeface="Georgia"/>
            </a:endParaRPr>
          </a:p>
          <a:p>
            <a:pPr indent="0">
              <a:lnSpc>
                <a:spcPct val="150000"/>
              </a:lnSpc>
            </a:pPr>
            <a:r>
              <a:rPr lang="en-US" sz="2000" b="1">
                <a:solidFill>
                  <a:schemeClr val="accent3">
                    <a:lumMod val="76000"/>
                  </a:schemeClr>
                </a:solidFill>
                <a:latin typeface="Georgia"/>
                <a:ea typeface="+mn-lt"/>
                <a:cs typeface="+mn-lt"/>
              </a:rPr>
              <a:t>Model:</a:t>
            </a:r>
            <a:r>
              <a:rPr lang="en-US" sz="2000">
                <a:solidFill>
                  <a:schemeClr val="accent3">
                    <a:lumMod val="76000"/>
                  </a:schemeClr>
                </a:solidFill>
                <a:latin typeface="Georgia"/>
                <a:ea typeface="+mn-lt"/>
                <a:cs typeface="+mn-lt"/>
              </a:rPr>
              <a:t> Calculated year-over-year change rates, ran linear regression</a:t>
            </a:r>
            <a:endParaRPr lang="en-US" sz="2000">
              <a:solidFill>
                <a:schemeClr val="accent3">
                  <a:lumMod val="76000"/>
                </a:schemeClr>
              </a:solidFill>
              <a:latin typeface="Georgia"/>
            </a:endParaRPr>
          </a:p>
          <a:p>
            <a:pPr indent="0">
              <a:lnSpc>
                <a:spcPct val="150000"/>
              </a:lnSpc>
            </a:pPr>
            <a:r>
              <a:rPr lang="en-US" sz="2000" b="1" dirty="0">
                <a:solidFill>
                  <a:schemeClr val="accent3">
                    <a:lumMod val="76000"/>
                  </a:schemeClr>
                </a:solidFill>
                <a:latin typeface="Georgia"/>
                <a:ea typeface="+mn-lt"/>
                <a:cs typeface="+mn-lt"/>
              </a:rPr>
              <a:t>Interpret:</a:t>
            </a:r>
            <a:r>
              <a:rPr lang="en-US" sz="2000" dirty="0">
                <a:solidFill>
                  <a:schemeClr val="accent3">
                    <a:lumMod val="76000"/>
                  </a:schemeClr>
                </a:solidFill>
                <a:latin typeface="Georgia"/>
                <a:ea typeface="+mn-lt"/>
                <a:cs typeface="+mn-lt"/>
              </a:rPr>
              <a:t> Compared observed rates to official metrics</a:t>
            </a:r>
            <a:endParaRPr lang="en-US" sz="2000">
              <a:solidFill>
                <a:schemeClr val="accent3">
                  <a:lumMod val="76000"/>
                </a:schemeClr>
              </a:solidFill>
              <a:latin typeface="Georgia"/>
            </a:endParaRPr>
          </a:p>
          <a:p>
            <a:endParaRPr lang="en-US" sz="2000" dirty="0"/>
          </a:p>
        </p:txBody>
      </p:sp>
      <p:sp>
        <p:nvSpPr>
          <p:cNvPr id="4" name="TextBox 3">
            <a:extLst>
              <a:ext uri="{FF2B5EF4-FFF2-40B4-BE49-F238E27FC236}">
                <a16:creationId xmlns:a16="http://schemas.microsoft.com/office/drawing/2014/main" id="{3C01322F-EF61-C4C6-DC74-3F98A19CEF0D}"/>
              </a:ext>
            </a:extLst>
          </p:cNvPr>
          <p:cNvSpPr txBox="1"/>
          <p:nvPr/>
        </p:nvSpPr>
        <p:spPr>
          <a:xfrm>
            <a:off x="3010601" y="1280907"/>
            <a:ext cx="4693546" cy="18699"/>
          </a:xfrm>
          <a:prstGeom prst="rect">
            <a:avLst/>
          </a:prstGeom>
          <a:solidFill>
            <a:schemeClr val="accent3">
              <a:lumMod val="75000"/>
            </a:schemeClr>
          </a:solidFill>
          <a:ln>
            <a:solidFill>
              <a:schemeClr val="accent3">
                <a:lumMod val="75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29235748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8" name="Content Placeholder 7" descr="A green and white rectangular frame&#10;&#10;AI-generated content may be incorrect.">
            <a:extLst>
              <a:ext uri="{FF2B5EF4-FFF2-40B4-BE49-F238E27FC236}">
                <a16:creationId xmlns:a16="http://schemas.microsoft.com/office/drawing/2014/main" id="{854E5C51-C892-DC5D-E3C9-75AB2869DADE}"/>
              </a:ext>
            </a:extLst>
          </p:cNvPr>
          <p:cNvPicPr>
            <a:picLocks noGrp="1" noChangeAspect="1"/>
          </p:cNvPicPr>
          <p:nvPr>
            <p:ph idx="1"/>
          </p:nvPr>
        </p:nvPicPr>
        <p:blipFill>
          <a:blip r:embed="rId2"/>
          <a:stretch>
            <a:fillRect/>
          </a:stretch>
        </p:blipFill>
        <p:spPr>
          <a:xfrm>
            <a:off x="-5562" y="-10501"/>
            <a:ext cx="12191999" cy="6872248"/>
          </a:xfrm>
          <a:prstGeom prst="rect">
            <a:avLst/>
          </a:prstGeom>
        </p:spPr>
      </p:pic>
      <p:pic>
        <p:nvPicPr>
          <p:cNvPr id="2" name="Picture 1" descr="A graph of different colored lines&#10;&#10;AI-generated content may be incorrect.">
            <a:extLst>
              <a:ext uri="{FF2B5EF4-FFF2-40B4-BE49-F238E27FC236}">
                <a16:creationId xmlns:a16="http://schemas.microsoft.com/office/drawing/2014/main" id="{2E63740B-267F-43DE-E798-44E77EF8D37D}"/>
              </a:ext>
            </a:extLst>
          </p:cNvPr>
          <p:cNvPicPr>
            <a:picLocks noChangeAspect="1"/>
          </p:cNvPicPr>
          <p:nvPr/>
        </p:nvPicPr>
        <p:blipFill>
          <a:blip r:embed="rId3"/>
          <a:stretch>
            <a:fillRect/>
          </a:stretch>
        </p:blipFill>
        <p:spPr>
          <a:xfrm>
            <a:off x="5089536" y="351549"/>
            <a:ext cx="6743874" cy="6267099"/>
          </a:xfrm>
          <a:prstGeom prst="rect">
            <a:avLst/>
          </a:prstGeom>
        </p:spPr>
      </p:pic>
      <p:pic>
        <p:nvPicPr>
          <p:cNvPr id="4" name="Picture 3" descr="A grocery cart full of food&#10;&#10;AI-generated content may be incorrect.">
            <a:extLst>
              <a:ext uri="{FF2B5EF4-FFF2-40B4-BE49-F238E27FC236}">
                <a16:creationId xmlns:a16="http://schemas.microsoft.com/office/drawing/2014/main" id="{EFEC4674-EEBA-EBEF-506F-F622994CF26C}"/>
              </a:ext>
            </a:extLst>
          </p:cNvPr>
          <p:cNvPicPr>
            <a:picLocks noChangeAspect="1"/>
          </p:cNvPicPr>
          <p:nvPr/>
        </p:nvPicPr>
        <p:blipFill>
          <a:blip r:embed="rId4"/>
          <a:stretch>
            <a:fillRect/>
          </a:stretch>
        </p:blipFill>
        <p:spPr>
          <a:xfrm>
            <a:off x="366891" y="2210759"/>
            <a:ext cx="4617109" cy="3777820"/>
          </a:xfrm>
          <a:prstGeom prst="rect">
            <a:avLst/>
          </a:prstGeom>
        </p:spPr>
      </p:pic>
      <p:sp>
        <p:nvSpPr>
          <p:cNvPr id="6" name="Title 1">
            <a:extLst>
              <a:ext uri="{FF2B5EF4-FFF2-40B4-BE49-F238E27FC236}">
                <a16:creationId xmlns:a16="http://schemas.microsoft.com/office/drawing/2014/main" id="{453F6CCD-96FE-3DBC-A3CE-552482139806}"/>
              </a:ext>
            </a:extLst>
          </p:cNvPr>
          <p:cNvSpPr>
            <a:spLocks noGrp="1"/>
          </p:cNvSpPr>
          <p:nvPr>
            <p:ph type="title"/>
          </p:nvPr>
        </p:nvSpPr>
        <p:spPr>
          <a:xfrm>
            <a:off x="1797437" y="316906"/>
            <a:ext cx="2176410" cy="953124"/>
          </a:xfrm>
        </p:spPr>
        <p:txBody>
          <a:bodyPr>
            <a:normAutofit fontScale="90000"/>
          </a:bodyPr>
          <a:lstStyle/>
          <a:p>
            <a:r>
              <a:rPr lang="en-US" sz="3600" b="1">
                <a:solidFill>
                  <a:schemeClr val="accent3">
                    <a:lumMod val="76000"/>
                  </a:schemeClr>
                </a:solidFill>
                <a:latin typeface="Georgia"/>
              </a:rPr>
              <a:t>Findings</a:t>
            </a:r>
          </a:p>
        </p:txBody>
      </p:sp>
      <p:sp>
        <p:nvSpPr>
          <p:cNvPr id="9" name="Content Placeholder 2">
            <a:extLst>
              <a:ext uri="{FF2B5EF4-FFF2-40B4-BE49-F238E27FC236}">
                <a16:creationId xmlns:a16="http://schemas.microsoft.com/office/drawing/2014/main" id="{E8A46F2E-C3DC-B50C-F980-D8ED58E5A2E9}"/>
              </a:ext>
            </a:extLst>
          </p:cNvPr>
          <p:cNvSpPr txBox="1">
            <a:spLocks/>
          </p:cNvSpPr>
          <p:nvPr/>
        </p:nvSpPr>
        <p:spPr>
          <a:xfrm>
            <a:off x="361364" y="1062786"/>
            <a:ext cx="4704768" cy="505807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b="1" dirty="0">
              <a:solidFill>
                <a:schemeClr val="accent3">
                  <a:lumMod val="76000"/>
                </a:schemeClr>
              </a:solidFill>
              <a:latin typeface="Georgia"/>
              <a:ea typeface="+mn-lt"/>
              <a:cs typeface="+mn-lt"/>
            </a:endParaRPr>
          </a:p>
          <a:p>
            <a:pPr marL="0" indent="0" algn="ctr">
              <a:buNone/>
            </a:pPr>
            <a:r>
              <a:rPr lang="en-US" b="1">
                <a:solidFill>
                  <a:schemeClr val="accent3">
                    <a:lumMod val="76000"/>
                  </a:schemeClr>
                </a:solidFill>
                <a:latin typeface="Georgia"/>
                <a:ea typeface="+mn-lt"/>
                <a:cs typeface="+mn-lt"/>
              </a:rPr>
              <a:t>Annual Price Trends 2024-2026</a:t>
            </a:r>
            <a:endParaRPr lang="en-US">
              <a:solidFill>
                <a:schemeClr val="accent3">
                  <a:lumMod val="76000"/>
                </a:schemeClr>
              </a:solidFill>
              <a:latin typeface="Georgia"/>
            </a:endParaRPr>
          </a:p>
        </p:txBody>
      </p:sp>
      <p:sp>
        <p:nvSpPr>
          <p:cNvPr id="11" name="TextBox 10">
            <a:extLst>
              <a:ext uri="{FF2B5EF4-FFF2-40B4-BE49-F238E27FC236}">
                <a16:creationId xmlns:a16="http://schemas.microsoft.com/office/drawing/2014/main" id="{CDA56086-8664-6275-D469-EFAF6C293842}"/>
              </a:ext>
            </a:extLst>
          </p:cNvPr>
          <p:cNvSpPr txBox="1"/>
          <p:nvPr/>
        </p:nvSpPr>
        <p:spPr>
          <a:xfrm>
            <a:off x="1832539" y="1056515"/>
            <a:ext cx="1963435" cy="9349"/>
          </a:xfrm>
          <a:prstGeom prst="rect">
            <a:avLst/>
          </a:prstGeom>
          <a:solidFill>
            <a:schemeClr val="accent3">
              <a:lumMod val="75000"/>
            </a:schemeClr>
          </a:solidFill>
          <a:ln w="28575">
            <a:solidFill>
              <a:schemeClr val="accent3">
                <a:lumMod val="75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12" name="TextBox 11">
            <a:extLst>
              <a:ext uri="{FF2B5EF4-FFF2-40B4-BE49-F238E27FC236}">
                <a16:creationId xmlns:a16="http://schemas.microsoft.com/office/drawing/2014/main" id="{5E29527B-0B4A-B6F5-FC74-BCF9BD2307D3}"/>
              </a:ext>
            </a:extLst>
          </p:cNvPr>
          <p:cNvSpPr txBox="1"/>
          <p:nvPr/>
        </p:nvSpPr>
        <p:spPr>
          <a:xfrm>
            <a:off x="5020785" y="243092"/>
            <a:ext cx="74797" cy="6395190"/>
          </a:xfrm>
          <a:prstGeom prst="rect">
            <a:avLst/>
          </a:prstGeom>
          <a:solidFill>
            <a:schemeClr val="accent3">
              <a:lumMod val="75000"/>
            </a:schemeClr>
          </a:solidFill>
          <a:ln>
            <a:solidFill>
              <a:schemeClr val="accent3">
                <a:lumMod val="75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1249064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7" descr="A green and white rectangular frame&#10;&#10;AI-generated content may be incorrect.">
            <a:extLst>
              <a:ext uri="{FF2B5EF4-FFF2-40B4-BE49-F238E27FC236}">
                <a16:creationId xmlns:a16="http://schemas.microsoft.com/office/drawing/2014/main" id="{2A6BCF21-3C8A-3CEB-6AE3-F5855F709D2F}"/>
              </a:ext>
            </a:extLst>
          </p:cNvPr>
          <p:cNvPicPr>
            <a:picLocks noChangeAspect="1"/>
          </p:cNvPicPr>
          <p:nvPr/>
        </p:nvPicPr>
        <p:blipFill>
          <a:blip r:embed="rId2"/>
          <a:stretch>
            <a:fillRect/>
          </a:stretch>
        </p:blipFill>
        <p:spPr>
          <a:xfrm>
            <a:off x="-1594" y="18947"/>
            <a:ext cx="12191999" cy="6872248"/>
          </a:xfrm>
          <a:prstGeom prst="rect">
            <a:avLst/>
          </a:prstGeom>
        </p:spPr>
      </p:pic>
      <p:sp>
        <p:nvSpPr>
          <p:cNvPr id="2" name="Title 1">
            <a:extLst>
              <a:ext uri="{FF2B5EF4-FFF2-40B4-BE49-F238E27FC236}">
                <a16:creationId xmlns:a16="http://schemas.microsoft.com/office/drawing/2014/main" id="{CC7F1AF4-9931-B702-E11D-EA5DDE1F8FB5}"/>
              </a:ext>
            </a:extLst>
          </p:cNvPr>
          <p:cNvSpPr>
            <a:spLocks noGrp="1"/>
          </p:cNvSpPr>
          <p:nvPr>
            <p:ph type="title"/>
          </p:nvPr>
        </p:nvSpPr>
        <p:spPr>
          <a:xfrm>
            <a:off x="1558126" y="122033"/>
            <a:ext cx="2783404" cy="844053"/>
          </a:xfrm>
        </p:spPr>
        <p:txBody>
          <a:bodyPr>
            <a:normAutofit/>
          </a:bodyPr>
          <a:lstStyle/>
          <a:p>
            <a:r>
              <a:rPr lang="en-US" sz="3600" b="1">
                <a:solidFill>
                  <a:schemeClr val="accent3">
                    <a:lumMod val="76000"/>
                  </a:schemeClr>
                </a:solidFill>
                <a:latin typeface="Georgia"/>
              </a:rPr>
              <a:t>Findings</a:t>
            </a:r>
          </a:p>
        </p:txBody>
      </p:sp>
      <p:sp>
        <p:nvSpPr>
          <p:cNvPr id="3" name="Content Placeholder 2">
            <a:extLst>
              <a:ext uri="{FF2B5EF4-FFF2-40B4-BE49-F238E27FC236}">
                <a16:creationId xmlns:a16="http://schemas.microsoft.com/office/drawing/2014/main" id="{CB114484-4266-A6E6-91FD-8354392D3A00}"/>
              </a:ext>
            </a:extLst>
          </p:cNvPr>
          <p:cNvSpPr>
            <a:spLocks noGrp="1"/>
          </p:cNvSpPr>
          <p:nvPr>
            <p:ph idx="1"/>
          </p:nvPr>
        </p:nvSpPr>
        <p:spPr>
          <a:xfrm>
            <a:off x="253844" y="970129"/>
            <a:ext cx="4943185" cy="5674319"/>
          </a:xfrm>
        </p:spPr>
        <p:txBody>
          <a:bodyPr vert="horz" lIns="91440" tIns="45720" rIns="91440" bIns="45720" rtlCol="0" anchor="t">
            <a:normAutofit/>
          </a:bodyPr>
          <a:lstStyle/>
          <a:p>
            <a:pPr marL="0" indent="0" algn="ctr">
              <a:buNone/>
            </a:pPr>
            <a:r>
              <a:rPr lang="en-US" sz="2400" b="1">
                <a:solidFill>
                  <a:schemeClr val="accent3">
                    <a:lumMod val="76000"/>
                  </a:schemeClr>
                </a:solidFill>
                <a:latin typeface="Georgia"/>
                <a:ea typeface="+mn-lt"/>
                <a:cs typeface="+mn-lt"/>
              </a:rPr>
              <a:t>Personal Observations vs Official Inflation Rate</a:t>
            </a:r>
          </a:p>
          <a:p>
            <a:pPr marL="0" indent="0" algn="ctr">
              <a:buNone/>
            </a:pPr>
            <a:endParaRPr lang="en-US" sz="2000" b="1" dirty="0">
              <a:solidFill>
                <a:schemeClr val="accent3">
                  <a:lumMod val="76000"/>
                </a:schemeClr>
              </a:solidFill>
              <a:latin typeface="Georgia"/>
            </a:endParaRPr>
          </a:p>
          <a:p>
            <a:pPr marL="571500" indent="-342900">
              <a:lnSpc>
                <a:spcPct val="150000"/>
              </a:lnSpc>
              <a:buFont typeface="Arial"/>
              <a:buChar char="•"/>
            </a:pPr>
            <a:r>
              <a:rPr lang="en-US" sz="2400">
                <a:solidFill>
                  <a:schemeClr val="accent3">
                    <a:lumMod val="76000"/>
                  </a:schemeClr>
                </a:solidFill>
                <a:ea typeface="+mn-lt"/>
                <a:cs typeface="+mn-lt"/>
              </a:rPr>
              <a:t>2024→2025: Personal +10.4% vs BLS +2.2% → </a:t>
            </a:r>
            <a:r>
              <a:rPr lang="en-US" sz="2400" b="1">
                <a:solidFill>
                  <a:schemeClr val="accent3">
                    <a:lumMod val="76000"/>
                  </a:schemeClr>
                </a:solidFill>
                <a:ea typeface="+mn-lt"/>
                <a:cs typeface="+mn-lt"/>
              </a:rPr>
              <a:t>8.2 pp gap</a:t>
            </a:r>
            <a:endParaRPr lang="en-US" sz="2400">
              <a:solidFill>
                <a:schemeClr val="accent3">
                  <a:lumMod val="76000"/>
                </a:schemeClr>
              </a:solidFill>
            </a:endParaRPr>
          </a:p>
          <a:p>
            <a:pPr marL="571500" indent="-342900">
              <a:lnSpc>
                <a:spcPct val="150000"/>
              </a:lnSpc>
              <a:buFont typeface="Arial"/>
              <a:buChar char="•"/>
            </a:pPr>
            <a:r>
              <a:rPr lang="en-US" sz="2400">
                <a:solidFill>
                  <a:schemeClr val="accent3">
                    <a:lumMod val="76000"/>
                  </a:schemeClr>
                </a:solidFill>
                <a:ea typeface="+mn-lt"/>
                <a:cs typeface="+mn-lt"/>
              </a:rPr>
              <a:t>2025→2026 (partial): Personal -0.8% vs BLS +1.6%</a:t>
            </a:r>
            <a:endParaRPr lang="en-US" sz="2400">
              <a:solidFill>
                <a:schemeClr val="accent3">
                  <a:lumMod val="76000"/>
                </a:schemeClr>
              </a:solidFill>
            </a:endParaRPr>
          </a:p>
          <a:p>
            <a:pPr marL="571500" indent="-342900">
              <a:lnSpc>
                <a:spcPct val="150000"/>
              </a:lnSpc>
              <a:buFont typeface="Arial"/>
              <a:buChar char="•"/>
            </a:pPr>
            <a:endParaRPr lang="en-US" sz="2400" dirty="0">
              <a:solidFill>
                <a:schemeClr val="accent3">
                  <a:lumMod val="76000"/>
                </a:schemeClr>
              </a:solidFill>
            </a:endParaRPr>
          </a:p>
          <a:p>
            <a:pPr>
              <a:lnSpc>
                <a:spcPct val="150000"/>
              </a:lnSpc>
            </a:pPr>
            <a:endParaRPr lang="en-US" sz="2000" b="1" dirty="0">
              <a:solidFill>
                <a:schemeClr val="accent3">
                  <a:lumMod val="76000"/>
                </a:schemeClr>
              </a:solidFill>
              <a:latin typeface="Georgia"/>
            </a:endParaRPr>
          </a:p>
        </p:txBody>
      </p:sp>
      <p:sp>
        <p:nvSpPr>
          <p:cNvPr id="6" name="TextBox 5">
            <a:extLst>
              <a:ext uri="{FF2B5EF4-FFF2-40B4-BE49-F238E27FC236}">
                <a16:creationId xmlns:a16="http://schemas.microsoft.com/office/drawing/2014/main" id="{5A2A21EE-BCA4-4B39-DC4E-04C949B7172B}"/>
              </a:ext>
            </a:extLst>
          </p:cNvPr>
          <p:cNvSpPr txBox="1"/>
          <p:nvPr/>
        </p:nvSpPr>
        <p:spPr>
          <a:xfrm>
            <a:off x="1290257" y="850822"/>
            <a:ext cx="2889055" cy="38100"/>
          </a:xfrm>
          <a:prstGeom prst="rect">
            <a:avLst/>
          </a:prstGeom>
          <a:solidFill>
            <a:schemeClr val="accent3">
              <a:lumMod val="75000"/>
            </a:schemeClr>
          </a:solidFill>
          <a:ln>
            <a:solidFill>
              <a:schemeClr val="accent3">
                <a:lumMod val="75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7" name="Picture 6" descr="A graph of food prices&#10;&#10;AI-generated content may be incorrect.">
            <a:extLst>
              <a:ext uri="{FF2B5EF4-FFF2-40B4-BE49-F238E27FC236}">
                <a16:creationId xmlns:a16="http://schemas.microsoft.com/office/drawing/2014/main" id="{3FF9E06C-967C-C2ED-1036-1397E6D1C9EB}"/>
              </a:ext>
            </a:extLst>
          </p:cNvPr>
          <p:cNvPicPr>
            <a:picLocks noChangeAspect="1"/>
          </p:cNvPicPr>
          <p:nvPr/>
        </p:nvPicPr>
        <p:blipFill>
          <a:blip r:embed="rId3"/>
          <a:stretch>
            <a:fillRect/>
          </a:stretch>
        </p:blipFill>
        <p:spPr>
          <a:xfrm>
            <a:off x="5106235" y="386875"/>
            <a:ext cx="6796261" cy="6251110"/>
          </a:xfrm>
          <a:prstGeom prst="rect">
            <a:avLst/>
          </a:prstGeom>
        </p:spPr>
      </p:pic>
      <p:sp>
        <p:nvSpPr>
          <p:cNvPr id="8" name="TextBox 7">
            <a:extLst>
              <a:ext uri="{FF2B5EF4-FFF2-40B4-BE49-F238E27FC236}">
                <a16:creationId xmlns:a16="http://schemas.microsoft.com/office/drawing/2014/main" id="{63456483-AA55-B293-44BC-801D64452869}"/>
              </a:ext>
            </a:extLst>
          </p:cNvPr>
          <p:cNvSpPr txBox="1"/>
          <p:nvPr/>
        </p:nvSpPr>
        <p:spPr>
          <a:xfrm>
            <a:off x="5104932" y="252441"/>
            <a:ext cx="37398" cy="6404539"/>
          </a:xfrm>
          <a:prstGeom prst="rect">
            <a:avLst/>
          </a:prstGeom>
          <a:solidFill>
            <a:schemeClr val="accent3">
              <a:lumMod val="75000"/>
            </a:schemeClr>
          </a:solidFill>
          <a:ln>
            <a:solidFill>
              <a:schemeClr val="accent3">
                <a:lumMod val="75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26772893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7" descr="A green and white rectangular frame&#10;&#10;AI-generated content may be incorrect.">
            <a:extLst>
              <a:ext uri="{FF2B5EF4-FFF2-40B4-BE49-F238E27FC236}">
                <a16:creationId xmlns:a16="http://schemas.microsoft.com/office/drawing/2014/main" id="{E38E631C-8137-E624-BAFF-77BB89565C41}"/>
              </a:ext>
            </a:extLst>
          </p:cNvPr>
          <p:cNvPicPr>
            <a:picLocks noChangeAspect="1"/>
          </p:cNvPicPr>
          <p:nvPr/>
        </p:nvPicPr>
        <p:blipFill>
          <a:blip r:embed="rId2"/>
          <a:stretch>
            <a:fillRect/>
          </a:stretch>
        </p:blipFill>
        <p:spPr>
          <a:xfrm>
            <a:off x="-1594" y="-16438"/>
            <a:ext cx="12191999" cy="6872248"/>
          </a:xfrm>
          <a:prstGeom prst="rect">
            <a:avLst/>
          </a:prstGeom>
        </p:spPr>
      </p:pic>
      <p:sp>
        <p:nvSpPr>
          <p:cNvPr id="2" name="Title 1">
            <a:extLst>
              <a:ext uri="{FF2B5EF4-FFF2-40B4-BE49-F238E27FC236}">
                <a16:creationId xmlns:a16="http://schemas.microsoft.com/office/drawing/2014/main" id="{EE657B1B-3C1C-08BC-90CA-45939A3C5BC8}"/>
              </a:ext>
            </a:extLst>
          </p:cNvPr>
          <p:cNvSpPr>
            <a:spLocks noGrp="1"/>
          </p:cNvSpPr>
          <p:nvPr>
            <p:ph type="title"/>
          </p:nvPr>
        </p:nvSpPr>
        <p:spPr>
          <a:xfrm>
            <a:off x="1193488" y="388499"/>
            <a:ext cx="3896018" cy="1325563"/>
          </a:xfrm>
        </p:spPr>
        <p:txBody>
          <a:bodyPr>
            <a:normAutofit/>
          </a:bodyPr>
          <a:lstStyle/>
          <a:p>
            <a:r>
              <a:rPr lang="en-US" sz="3600" b="1">
                <a:solidFill>
                  <a:schemeClr val="accent3">
                    <a:lumMod val="76000"/>
                  </a:schemeClr>
                </a:solidFill>
                <a:latin typeface="Georgia"/>
              </a:rPr>
              <a:t>Findings</a:t>
            </a:r>
          </a:p>
        </p:txBody>
      </p:sp>
      <p:sp>
        <p:nvSpPr>
          <p:cNvPr id="3" name="Content Placeholder 2">
            <a:extLst>
              <a:ext uri="{FF2B5EF4-FFF2-40B4-BE49-F238E27FC236}">
                <a16:creationId xmlns:a16="http://schemas.microsoft.com/office/drawing/2014/main" id="{C296173A-B858-DB9C-B224-1B541A9C1F94}"/>
              </a:ext>
            </a:extLst>
          </p:cNvPr>
          <p:cNvSpPr>
            <a:spLocks noGrp="1"/>
          </p:cNvSpPr>
          <p:nvPr>
            <p:ph idx="1"/>
          </p:nvPr>
        </p:nvSpPr>
        <p:spPr>
          <a:xfrm>
            <a:off x="211771" y="1694729"/>
            <a:ext cx="5275097" cy="4351338"/>
          </a:xfrm>
        </p:spPr>
        <p:txBody>
          <a:bodyPr vert="horz" lIns="91440" tIns="45720" rIns="91440" bIns="45720" rtlCol="0" anchor="t">
            <a:normAutofit/>
          </a:bodyPr>
          <a:lstStyle/>
          <a:p>
            <a:pPr marL="0" indent="0">
              <a:buNone/>
            </a:pPr>
            <a:r>
              <a:rPr lang="en-US" sz="2400" b="1">
                <a:solidFill>
                  <a:schemeClr val="accent3">
                    <a:lumMod val="76000"/>
                  </a:schemeClr>
                </a:solidFill>
                <a:latin typeface="Georgia"/>
                <a:ea typeface="+mn-lt"/>
                <a:cs typeface="+mn-lt"/>
              </a:rPr>
              <a:t>Linear Regression Analysis</a:t>
            </a:r>
            <a:endParaRPr lang="en-US" sz="2400" b="1">
              <a:solidFill>
                <a:schemeClr val="accent3">
                  <a:lumMod val="76000"/>
                </a:schemeClr>
              </a:solidFill>
              <a:latin typeface="Georgia"/>
            </a:endParaRPr>
          </a:p>
        </p:txBody>
      </p:sp>
      <p:sp>
        <p:nvSpPr>
          <p:cNvPr id="4" name="TextBox 3">
            <a:extLst>
              <a:ext uri="{FF2B5EF4-FFF2-40B4-BE49-F238E27FC236}">
                <a16:creationId xmlns:a16="http://schemas.microsoft.com/office/drawing/2014/main" id="{66D0D66F-0542-0E44-B229-439BFB7E257C}"/>
              </a:ext>
            </a:extLst>
          </p:cNvPr>
          <p:cNvSpPr txBox="1"/>
          <p:nvPr/>
        </p:nvSpPr>
        <p:spPr>
          <a:xfrm>
            <a:off x="1075214" y="1514649"/>
            <a:ext cx="2524417" cy="18699"/>
          </a:xfrm>
          <a:prstGeom prst="rect">
            <a:avLst/>
          </a:prstGeom>
          <a:solidFill>
            <a:schemeClr val="accent3">
              <a:lumMod val="75000"/>
            </a:schemeClr>
          </a:solidFill>
          <a:ln>
            <a:solidFill>
              <a:schemeClr val="accent3">
                <a:lumMod val="75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7" name="TextBox 6">
            <a:extLst>
              <a:ext uri="{FF2B5EF4-FFF2-40B4-BE49-F238E27FC236}">
                <a16:creationId xmlns:a16="http://schemas.microsoft.com/office/drawing/2014/main" id="{DBE9E0DC-C9B0-882A-9D93-1F60B4A12A96}"/>
              </a:ext>
            </a:extLst>
          </p:cNvPr>
          <p:cNvSpPr txBox="1"/>
          <p:nvPr/>
        </p:nvSpPr>
        <p:spPr>
          <a:xfrm>
            <a:off x="266534" y="2851962"/>
            <a:ext cx="4981544" cy="1477328"/>
          </a:xfrm>
          <a:prstGeom prst="rect">
            <a:avLst/>
          </a:prstGeom>
          <a:no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400">
                <a:solidFill>
                  <a:schemeClr val="accent3">
                    <a:lumMod val="76000"/>
                  </a:schemeClr>
                </a:solidFill>
                <a:latin typeface="Georgia"/>
                <a:ea typeface="+mn-lt"/>
                <a:cs typeface="+mn-lt"/>
              </a:rPr>
              <a:t>R² = 0.147 (CPI explains only 14.7% of variance)</a:t>
            </a:r>
            <a:endParaRPr lang="en-US" sz="2400">
              <a:solidFill>
                <a:schemeClr val="accent3">
                  <a:lumMod val="76000"/>
                </a:schemeClr>
              </a:solidFill>
              <a:latin typeface="Georgia"/>
            </a:endParaRPr>
          </a:p>
          <a:p>
            <a:pPr marL="285750" indent="-285750">
              <a:buFont typeface="Arial"/>
              <a:buChar char="•"/>
            </a:pPr>
            <a:r>
              <a:rPr lang="en-US" sz="2400">
                <a:solidFill>
                  <a:schemeClr val="accent3">
                    <a:lumMod val="76000"/>
                  </a:schemeClr>
                </a:solidFill>
                <a:latin typeface="Georgia"/>
                <a:ea typeface="+mn-lt"/>
                <a:cs typeface="+mn-lt"/>
              </a:rPr>
              <a:t>p = 0.059 (statistically marginal)</a:t>
            </a:r>
            <a:endParaRPr lang="en-US" sz="2400">
              <a:solidFill>
                <a:schemeClr val="accent3">
                  <a:lumMod val="76000"/>
                </a:schemeClr>
              </a:solidFill>
              <a:latin typeface="Georgia"/>
            </a:endParaRPr>
          </a:p>
          <a:p>
            <a:pPr algn="l"/>
            <a:endParaRPr lang="en-US" dirty="0"/>
          </a:p>
        </p:txBody>
      </p:sp>
      <p:pic>
        <p:nvPicPr>
          <p:cNvPr id="8" name="Picture 7" descr="A graph with red dots and green line&#10;&#10;AI-generated content may be incorrect.">
            <a:extLst>
              <a:ext uri="{FF2B5EF4-FFF2-40B4-BE49-F238E27FC236}">
                <a16:creationId xmlns:a16="http://schemas.microsoft.com/office/drawing/2014/main" id="{917597FF-1058-4C03-8E82-A7ACF82C62A0}"/>
              </a:ext>
            </a:extLst>
          </p:cNvPr>
          <p:cNvPicPr>
            <a:picLocks noChangeAspect="1"/>
          </p:cNvPicPr>
          <p:nvPr/>
        </p:nvPicPr>
        <p:blipFill>
          <a:blip r:embed="rId3"/>
          <a:stretch>
            <a:fillRect/>
          </a:stretch>
        </p:blipFill>
        <p:spPr>
          <a:xfrm>
            <a:off x="5385979" y="227927"/>
            <a:ext cx="6543675" cy="6383444"/>
          </a:xfrm>
          <a:prstGeom prst="rect">
            <a:avLst/>
          </a:prstGeom>
        </p:spPr>
      </p:pic>
      <p:sp>
        <p:nvSpPr>
          <p:cNvPr id="9" name="TextBox 8">
            <a:extLst>
              <a:ext uri="{FF2B5EF4-FFF2-40B4-BE49-F238E27FC236}">
                <a16:creationId xmlns:a16="http://schemas.microsoft.com/office/drawing/2014/main" id="{6D8AE9BD-9E80-85C2-7B03-D9819559196B}"/>
              </a:ext>
            </a:extLst>
          </p:cNvPr>
          <p:cNvSpPr txBox="1"/>
          <p:nvPr/>
        </p:nvSpPr>
        <p:spPr>
          <a:xfrm flipH="1">
            <a:off x="5380747" y="224392"/>
            <a:ext cx="84147" cy="6390534"/>
          </a:xfrm>
          <a:prstGeom prst="rect">
            <a:avLst/>
          </a:prstGeom>
          <a:solidFill>
            <a:schemeClr val="accent3">
              <a:lumMod val="75000"/>
            </a:schemeClr>
          </a:solidFill>
          <a:ln>
            <a:solidFill>
              <a:schemeClr val="accent3">
                <a:lumMod val="75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pic>
        <p:nvPicPr>
          <p:cNvPr id="10" name="Picture 9" descr="A bag of avocados&#10;&#10;AI-generated content may be incorrect.">
            <a:extLst>
              <a:ext uri="{FF2B5EF4-FFF2-40B4-BE49-F238E27FC236}">
                <a16:creationId xmlns:a16="http://schemas.microsoft.com/office/drawing/2014/main" id="{78D1D98E-3C9F-8E99-138C-2AF2C1788380}"/>
              </a:ext>
            </a:extLst>
          </p:cNvPr>
          <p:cNvPicPr>
            <a:picLocks noChangeAspect="1"/>
          </p:cNvPicPr>
          <p:nvPr/>
        </p:nvPicPr>
        <p:blipFill>
          <a:blip r:embed="rId4"/>
          <a:stretch>
            <a:fillRect/>
          </a:stretch>
        </p:blipFill>
        <p:spPr>
          <a:xfrm>
            <a:off x="-634464" y="4690976"/>
            <a:ext cx="2512438" cy="2697853"/>
          </a:xfrm>
          <a:prstGeom prst="rect">
            <a:avLst/>
          </a:prstGeom>
        </p:spPr>
      </p:pic>
      <p:pic>
        <p:nvPicPr>
          <p:cNvPr id="11" name="Picture 10" descr="A plastic container of greens&#10;&#10;AI-generated content may be incorrect.">
            <a:extLst>
              <a:ext uri="{FF2B5EF4-FFF2-40B4-BE49-F238E27FC236}">
                <a16:creationId xmlns:a16="http://schemas.microsoft.com/office/drawing/2014/main" id="{FDBE02AF-120E-4758-3188-D47490FCFB5B}"/>
              </a:ext>
            </a:extLst>
          </p:cNvPr>
          <p:cNvPicPr>
            <a:picLocks noChangeAspect="1"/>
          </p:cNvPicPr>
          <p:nvPr/>
        </p:nvPicPr>
        <p:blipFill>
          <a:blip r:embed="rId5"/>
          <a:stretch>
            <a:fillRect/>
          </a:stretch>
        </p:blipFill>
        <p:spPr>
          <a:xfrm>
            <a:off x="783680" y="4850037"/>
            <a:ext cx="1976176" cy="1921597"/>
          </a:xfrm>
          <a:prstGeom prst="rect">
            <a:avLst/>
          </a:prstGeom>
        </p:spPr>
      </p:pic>
      <p:pic>
        <p:nvPicPr>
          <p:cNvPr id="12" name="Picture 11" descr="A banana on a black background&#10;&#10;AI-generated content may be incorrect.">
            <a:extLst>
              <a:ext uri="{FF2B5EF4-FFF2-40B4-BE49-F238E27FC236}">
                <a16:creationId xmlns:a16="http://schemas.microsoft.com/office/drawing/2014/main" id="{568F8C1A-E391-F3AB-FFDA-60EB5F274712}"/>
              </a:ext>
            </a:extLst>
          </p:cNvPr>
          <p:cNvPicPr>
            <a:picLocks noChangeAspect="1"/>
          </p:cNvPicPr>
          <p:nvPr/>
        </p:nvPicPr>
        <p:blipFill>
          <a:blip r:embed="rId6"/>
          <a:stretch>
            <a:fillRect/>
          </a:stretch>
        </p:blipFill>
        <p:spPr>
          <a:xfrm rot="780000">
            <a:off x="1883144" y="3871532"/>
            <a:ext cx="2329710" cy="2677168"/>
          </a:xfrm>
          <a:prstGeom prst="rect">
            <a:avLst/>
          </a:prstGeom>
        </p:spPr>
      </p:pic>
      <p:pic>
        <p:nvPicPr>
          <p:cNvPr id="13" name="Picture 12" descr="A white bottle with blue text&#10;&#10;AI-generated content may be incorrect.">
            <a:extLst>
              <a:ext uri="{FF2B5EF4-FFF2-40B4-BE49-F238E27FC236}">
                <a16:creationId xmlns:a16="http://schemas.microsoft.com/office/drawing/2014/main" id="{19BA0FA3-E59E-BC9E-79DA-5C9145D1EE77}"/>
              </a:ext>
            </a:extLst>
          </p:cNvPr>
          <p:cNvPicPr>
            <a:picLocks noChangeAspect="1"/>
          </p:cNvPicPr>
          <p:nvPr/>
        </p:nvPicPr>
        <p:blipFill>
          <a:blip r:embed="rId7"/>
          <a:stretch>
            <a:fillRect/>
          </a:stretch>
        </p:blipFill>
        <p:spPr>
          <a:xfrm>
            <a:off x="3525419" y="4051455"/>
            <a:ext cx="2976709" cy="3345788"/>
          </a:xfrm>
          <a:prstGeom prst="rect">
            <a:avLst/>
          </a:prstGeom>
        </p:spPr>
      </p:pic>
      <p:pic>
        <p:nvPicPr>
          <p:cNvPr id="14" name="Picture 13" descr="A carton of eggs on a black background&#10;&#10;AI-generated content may be incorrect.">
            <a:extLst>
              <a:ext uri="{FF2B5EF4-FFF2-40B4-BE49-F238E27FC236}">
                <a16:creationId xmlns:a16="http://schemas.microsoft.com/office/drawing/2014/main" id="{BF9FD5F4-F16F-8C46-188B-78C94B6B54BA}"/>
              </a:ext>
            </a:extLst>
          </p:cNvPr>
          <p:cNvPicPr>
            <a:picLocks noChangeAspect="1"/>
          </p:cNvPicPr>
          <p:nvPr/>
        </p:nvPicPr>
        <p:blipFill>
          <a:blip r:embed="rId8"/>
          <a:stretch>
            <a:fillRect/>
          </a:stretch>
        </p:blipFill>
        <p:spPr>
          <a:xfrm>
            <a:off x="1561283" y="3868757"/>
            <a:ext cx="4076700" cy="5553075"/>
          </a:xfrm>
          <a:prstGeom prst="rect">
            <a:avLst/>
          </a:prstGeom>
        </p:spPr>
      </p:pic>
    </p:spTree>
    <p:extLst>
      <p:ext uri="{BB962C8B-B14F-4D97-AF65-F5344CB8AC3E}">
        <p14:creationId xmlns:p14="http://schemas.microsoft.com/office/powerpoint/2010/main" val="4209935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een bag with various vegetables&#10;&#10;AI-generated content may be incorrect.">
            <a:extLst>
              <a:ext uri="{FF2B5EF4-FFF2-40B4-BE49-F238E27FC236}">
                <a16:creationId xmlns:a16="http://schemas.microsoft.com/office/drawing/2014/main" id="{C0E85E21-5A68-9877-F38D-599B057A7F6F}"/>
              </a:ext>
            </a:extLst>
          </p:cNvPr>
          <p:cNvPicPr>
            <a:picLocks noChangeAspect="1"/>
          </p:cNvPicPr>
          <p:nvPr/>
        </p:nvPicPr>
        <p:blipFill>
          <a:blip r:embed="rId2"/>
          <a:stretch>
            <a:fillRect/>
          </a:stretch>
        </p:blipFill>
        <p:spPr>
          <a:xfrm>
            <a:off x="597" y="-4675"/>
            <a:ext cx="12271884" cy="6863562"/>
          </a:xfrm>
          <a:prstGeom prst="rect">
            <a:avLst/>
          </a:prstGeom>
        </p:spPr>
      </p:pic>
      <p:sp>
        <p:nvSpPr>
          <p:cNvPr id="2" name="Title 1">
            <a:extLst>
              <a:ext uri="{FF2B5EF4-FFF2-40B4-BE49-F238E27FC236}">
                <a16:creationId xmlns:a16="http://schemas.microsoft.com/office/drawing/2014/main" id="{548113CA-8D80-09EA-5261-6B13DA7A401B}"/>
              </a:ext>
            </a:extLst>
          </p:cNvPr>
          <p:cNvSpPr>
            <a:spLocks noGrp="1"/>
          </p:cNvSpPr>
          <p:nvPr>
            <p:ph type="title"/>
          </p:nvPr>
        </p:nvSpPr>
        <p:spPr>
          <a:xfrm>
            <a:off x="3147574" y="-83660"/>
            <a:ext cx="10515600" cy="1325563"/>
          </a:xfrm>
        </p:spPr>
        <p:txBody>
          <a:bodyPr>
            <a:normAutofit/>
          </a:bodyPr>
          <a:lstStyle/>
          <a:p>
            <a:r>
              <a:rPr lang="en-US" sz="3600" b="1">
                <a:solidFill>
                  <a:schemeClr val="accent3">
                    <a:lumMod val="76000"/>
                  </a:schemeClr>
                </a:solidFill>
                <a:latin typeface="Georgia"/>
                <a:ea typeface="+mj-lt"/>
                <a:cs typeface="+mj-lt"/>
              </a:rPr>
              <a:t>Sub-analysis Findings</a:t>
            </a:r>
            <a:endParaRPr lang="en-US" sz="3600" b="1">
              <a:solidFill>
                <a:schemeClr val="accent3">
                  <a:lumMod val="76000"/>
                </a:schemeClr>
              </a:solidFill>
              <a:latin typeface="Georgia"/>
            </a:endParaRPr>
          </a:p>
        </p:txBody>
      </p:sp>
      <p:pic>
        <p:nvPicPr>
          <p:cNvPr id="6" name="Content Placeholder 5">
            <a:extLst>
              <a:ext uri="{FF2B5EF4-FFF2-40B4-BE49-F238E27FC236}">
                <a16:creationId xmlns:a16="http://schemas.microsoft.com/office/drawing/2014/main" id="{5F2C3E18-8911-0FCA-1DA5-62C689AB2545}"/>
              </a:ext>
            </a:extLst>
          </p:cNvPr>
          <p:cNvPicPr>
            <a:picLocks noGrp="1" noChangeAspect="1"/>
          </p:cNvPicPr>
          <p:nvPr>
            <p:ph idx="1"/>
          </p:nvPr>
        </p:nvPicPr>
        <p:blipFill>
          <a:blip r:embed="rId3"/>
          <a:stretch>
            <a:fillRect/>
          </a:stretch>
        </p:blipFill>
        <p:spPr>
          <a:xfrm>
            <a:off x="2346773" y="1244309"/>
            <a:ext cx="6834625" cy="4083468"/>
          </a:xfrm>
          <a:prstGeom prst="rect">
            <a:avLst/>
          </a:prstGeom>
        </p:spPr>
      </p:pic>
      <p:sp>
        <p:nvSpPr>
          <p:cNvPr id="4" name="TextBox 3">
            <a:extLst>
              <a:ext uri="{FF2B5EF4-FFF2-40B4-BE49-F238E27FC236}">
                <a16:creationId xmlns:a16="http://schemas.microsoft.com/office/drawing/2014/main" id="{6F4C006E-47E1-54EA-D70C-F0E16B804034}"/>
              </a:ext>
            </a:extLst>
          </p:cNvPr>
          <p:cNvSpPr txBox="1"/>
          <p:nvPr/>
        </p:nvSpPr>
        <p:spPr>
          <a:xfrm>
            <a:off x="3066699" y="832122"/>
            <a:ext cx="5581766" cy="18699"/>
          </a:xfrm>
          <a:prstGeom prst="rect">
            <a:avLst/>
          </a:prstGeom>
          <a:solidFill>
            <a:schemeClr val="accent3">
              <a:lumMod val="75000"/>
            </a:schemeClr>
          </a:solidFill>
          <a:ln>
            <a:solidFill>
              <a:schemeClr val="accent3">
                <a:lumMod val="75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478376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een bag with various vegetables&#10;&#10;AI-generated content may be incorrect.">
            <a:extLst>
              <a:ext uri="{FF2B5EF4-FFF2-40B4-BE49-F238E27FC236}">
                <a16:creationId xmlns:a16="http://schemas.microsoft.com/office/drawing/2014/main" id="{E5809EB2-9128-BF10-7228-719EBEA61D5B}"/>
              </a:ext>
            </a:extLst>
          </p:cNvPr>
          <p:cNvPicPr>
            <a:picLocks noChangeAspect="1"/>
          </p:cNvPicPr>
          <p:nvPr/>
        </p:nvPicPr>
        <p:blipFill>
          <a:blip r:embed="rId2"/>
          <a:stretch>
            <a:fillRect/>
          </a:stretch>
        </p:blipFill>
        <p:spPr>
          <a:xfrm>
            <a:off x="-1821" y="-4280"/>
            <a:ext cx="12271884" cy="6863562"/>
          </a:xfrm>
          <a:prstGeom prst="rect">
            <a:avLst/>
          </a:prstGeom>
        </p:spPr>
      </p:pic>
      <p:sp>
        <p:nvSpPr>
          <p:cNvPr id="3" name="Content Placeholder 2">
            <a:extLst>
              <a:ext uri="{FF2B5EF4-FFF2-40B4-BE49-F238E27FC236}">
                <a16:creationId xmlns:a16="http://schemas.microsoft.com/office/drawing/2014/main" id="{8BEFA4D3-302E-14CB-7DAF-8250AD8B8C0D}"/>
              </a:ext>
            </a:extLst>
          </p:cNvPr>
          <p:cNvSpPr>
            <a:spLocks noGrp="1"/>
          </p:cNvSpPr>
          <p:nvPr>
            <p:ph idx="1"/>
          </p:nvPr>
        </p:nvSpPr>
        <p:spPr>
          <a:xfrm>
            <a:off x="1617323" y="1988299"/>
            <a:ext cx="8768994" cy="1881260"/>
          </a:xfrm>
        </p:spPr>
        <p:txBody>
          <a:bodyPr vert="horz" lIns="91440" tIns="45720" rIns="91440" bIns="45720" rtlCol="0" anchor="t">
            <a:noAutofit/>
          </a:bodyPr>
          <a:lstStyle/>
          <a:p>
            <a:pPr>
              <a:lnSpc>
                <a:spcPct val="150000"/>
              </a:lnSpc>
            </a:pPr>
            <a:r>
              <a:rPr lang="en-US" sz="2400" b="1">
                <a:solidFill>
                  <a:schemeClr val="accent3">
                    <a:lumMod val="76000"/>
                  </a:schemeClr>
                </a:solidFill>
                <a:latin typeface="Georgia"/>
                <a:ea typeface="+mn-lt"/>
                <a:cs typeface="+mn-lt"/>
              </a:rPr>
              <a:t>Primary Data Source:</a:t>
            </a:r>
            <a:r>
              <a:rPr lang="en-US" sz="2400">
                <a:solidFill>
                  <a:schemeClr val="accent3">
                    <a:lumMod val="76000"/>
                  </a:schemeClr>
                </a:solidFill>
                <a:latin typeface="Georgia"/>
                <a:ea typeface="+mn-lt"/>
                <a:cs typeface="+mn-lt"/>
              </a:rPr>
              <a:t> Personal Whole Foods receipts (collected by you over 3 years, OCR digitized)</a:t>
            </a:r>
            <a:endParaRPr lang="en-US" sz="2400">
              <a:solidFill>
                <a:schemeClr val="accent3">
                  <a:lumMod val="76000"/>
                </a:schemeClr>
              </a:solidFill>
              <a:latin typeface="Georgia"/>
            </a:endParaRPr>
          </a:p>
          <a:p>
            <a:pPr>
              <a:lnSpc>
                <a:spcPct val="150000"/>
              </a:lnSpc>
            </a:pPr>
            <a:r>
              <a:rPr lang="en-US" sz="2400" b="1">
                <a:solidFill>
                  <a:schemeClr val="accent3">
                    <a:lumMod val="76000"/>
                  </a:schemeClr>
                </a:solidFill>
                <a:latin typeface="Georgia"/>
                <a:ea typeface="+mn-lt"/>
                <a:cs typeface="+mn-lt"/>
              </a:rPr>
              <a:t>Secondary Data Source:</a:t>
            </a:r>
            <a:r>
              <a:rPr lang="en-US" sz="2400">
                <a:solidFill>
                  <a:schemeClr val="accent3">
                    <a:lumMod val="76000"/>
                  </a:schemeClr>
                </a:solidFill>
                <a:latin typeface="Georgia"/>
                <a:ea typeface="+mn-lt"/>
                <a:cs typeface="+mn-lt"/>
              </a:rPr>
              <a:t> U.S. Bureau of Labor Statistics CPI Food at Home (CUUR0000SAF11) </a:t>
            </a:r>
            <a:r>
              <a:rPr lang="en-US" sz="2400" dirty="0">
                <a:solidFill>
                  <a:schemeClr val="accent3">
                    <a:lumMod val="76000"/>
                  </a:schemeClr>
                </a:solidFill>
                <a:ea typeface="+mn-lt"/>
                <a:cs typeface="+mn-lt"/>
              </a:rPr>
              <a:t>https://data.bls.gov/timeseries/CUUR0000SAF11</a:t>
            </a:r>
            <a:endParaRPr lang="en-US" sz="2400">
              <a:solidFill>
                <a:schemeClr val="accent3">
                  <a:lumMod val="76000"/>
                </a:schemeClr>
              </a:solidFill>
              <a:latin typeface="Georgia"/>
            </a:endParaRPr>
          </a:p>
          <a:p>
            <a:endParaRPr lang="en-US" dirty="0"/>
          </a:p>
        </p:txBody>
      </p:sp>
      <p:sp>
        <p:nvSpPr>
          <p:cNvPr id="2" name="Title 1">
            <a:extLst>
              <a:ext uri="{FF2B5EF4-FFF2-40B4-BE49-F238E27FC236}">
                <a16:creationId xmlns:a16="http://schemas.microsoft.com/office/drawing/2014/main" id="{52253CF4-9BEE-5BEC-B4A8-C4490C274C63}"/>
              </a:ext>
            </a:extLst>
          </p:cNvPr>
          <p:cNvSpPr>
            <a:spLocks noGrp="1"/>
          </p:cNvSpPr>
          <p:nvPr>
            <p:ph type="title"/>
          </p:nvPr>
        </p:nvSpPr>
        <p:spPr>
          <a:xfrm>
            <a:off x="4147336" y="673350"/>
            <a:ext cx="3708972" cy="803294"/>
          </a:xfrm>
        </p:spPr>
        <p:txBody>
          <a:bodyPr>
            <a:normAutofit/>
          </a:bodyPr>
          <a:lstStyle/>
          <a:p>
            <a:r>
              <a:rPr lang="en-US" sz="3600" b="1">
                <a:solidFill>
                  <a:schemeClr val="accent3">
                    <a:lumMod val="76000"/>
                  </a:schemeClr>
                </a:solidFill>
                <a:latin typeface="Georgia"/>
                <a:ea typeface="+mj-lt"/>
                <a:cs typeface="+mj-lt"/>
              </a:rPr>
              <a:t>Data Sources</a:t>
            </a:r>
          </a:p>
        </p:txBody>
      </p:sp>
      <p:sp>
        <p:nvSpPr>
          <p:cNvPr id="4" name="TextBox 3">
            <a:extLst>
              <a:ext uri="{FF2B5EF4-FFF2-40B4-BE49-F238E27FC236}">
                <a16:creationId xmlns:a16="http://schemas.microsoft.com/office/drawing/2014/main" id="{DF841D3A-514F-027B-204D-F3714254B837}"/>
              </a:ext>
            </a:extLst>
          </p:cNvPr>
          <p:cNvSpPr txBox="1"/>
          <p:nvPr/>
        </p:nvSpPr>
        <p:spPr>
          <a:xfrm>
            <a:off x="4076466" y="1337006"/>
            <a:ext cx="3450036" cy="38100"/>
          </a:xfrm>
          <a:prstGeom prst="rect">
            <a:avLst/>
          </a:prstGeom>
          <a:solidFill>
            <a:schemeClr val="accent3">
              <a:lumMod val="75000"/>
            </a:schemeClr>
          </a:solidFill>
          <a:ln>
            <a:solidFill>
              <a:schemeClr val="accent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2451981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een bag with various vegetables&#10;&#10;AI-generated content may be incorrect.">
            <a:extLst>
              <a:ext uri="{FF2B5EF4-FFF2-40B4-BE49-F238E27FC236}">
                <a16:creationId xmlns:a16="http://schemas.microsoft.com/office/drawing/2014/main" id="{F23E0C2A-BA47-7852-AC18-0554D050F9A2}"/>
              </a:ext>
            </a:extLst>
          </p:cNvPr>
          <p:cNvPicPr>
            <a:picLocks noChangeAspect="1"/>
          </p:cNvPicPr>
          <p:nvPr/>
        </p:nvPicPr>
        <p:blipFill>
          <a:blip r:embed="rId2"/>
          <a:stretch>
            <a:fillRect/>
          </a:stretch>
        </p:blipFill>
        <p:spPr>
          <a:xfrm>
            <a:off x="-1821" y="1282"/>
            <a:ext cx="12271884" cy="6863562"/>
          </a:xfrm>
          <a:prstGeom prst="rect">
            <a:avLst/>
          </a:prstGeom>
        </p:spPr>
      </p:pic>
      <p:sp>
        <p:nvSpPr>
          <p:cNvPr id="2" name="Title 1">
            <a:extLst>
              <a:ext uri="{FF2B5EF4-FFF2-40B4-BE49-F238E27FC236}">
                <a16:creationId xmlns:a16="http://schemas.microsoft.com/office/drawing/2014/main" id="{3916B629-C596-CAE6-9CC4-6CE60928833C}"/>
              </a:ext>
            </a:extLst>
          </p:cNvPr>
          <p:cNvSpPr>
            <a:spLocks noGrp="1"/>
          </p:cNvSpPr>
          <p:nvPr>
            <p:ph type="title"/>
          </p:nvPr>
        </p:nvSpPr>
        <p:spPr/>
        <p:txBody>
          <a:bodyPr>
            <a:normAutofit/>
          </a:bodyPr>
          <a:lstStyle/>
          <a:p>
            <a:pPr algn="ctr"/>
            <a:r>
              <a:rPr lang="en-US" sz="3600" b="1">
                <a:solidFill>
                  <a:schemeClr val="accent3">
                    <a:lumMod val="76000"/>
                  </a:schemeClr>
                </a:solidFill>
                <a:latin typeface="Georgia"/>
              </a:rPr>
              <a:t>Challenges and limitations</a:t>
            </a:r>
            <a:endParaRPr lang="en-US"/>
          </a:p>
        </p:txBody>
      </p:sp>
      <p:sp>
        <p:nvSpPr>
          <p:cNvPr id="3" name="Content Placeholder 2">
            <a:extLst>
              <a:ext uri="{FF2B5EF4-FFF2-40B4-BE49-F238E27FC236}">
                <a16:creationId xmlns:a16="http://schemas.microsoft.com/office/drawing/2014/main" id="{F5E534A9-06C1-612C-1049-FE8D50161A64}"/>
              </a:ext>
            </a:extLst>
          </p:cNvPr>
          <p:cNvSpPr>
            <a:spLocks noGrp="1"/>
          </p:cNvSpPr>
          <p:nvPr>
            <p:ph idx="1"/>
          </p:nvPr>
        </p:nvSpPr>
        <p:spPr>
          <a:xfrm>
            <a:off x="2455697" y="1694730"/>
            <a:ext cx="10515600" cy="4351338"/>
          </a:xfrm>
        </p:spPr>
        <p:txBody>
          <a:bodyPr vert="horz" lIns="91440" tIns="45720" rIns="91440" bIns="45720" rtlCol="0" anchor="t">
            <a:normAutofit/>
          </a:bodyPr>
          <a:lstStyle/>
          <a:p>
            <a:pPr marL="0" indent="0">
              <a:buNone/>
            </a:pPr>
            <a:r>
              <a:rPr lang="en-US" sz="2000" b="1">
                <a:latin typeface="Georgia"/>
              </a:rPr>
              <a:t>Challenges:</a:t>
            </a:r>
            <a:endParaRPr lang="en-US" sz="2000" dirty="0">
              <a:latin typeface="Georgia"/>
            </a:endParaRPr>
          </a:p>
          <a:p>
            <a:pPr>
              <a:buFont typeface=""/>
              <a:buChar char="•"/>
            </a:pPr>
            <a:r>
              <a:rPr lang="en-US" sz="2000">
                <a:latin typeface="Georgia"/>
              </a:rPr>
              <a:t>OCR extraction from receipt photos produced inconsistent item names</a:t>
            </a:r>
            <a:endParaRPr lang="en-US" sz="2000" dirty="0">
              <a:latin typeface="Georgia"/>
            </a:endParaRPr>
          </a:p>
          <a:p>
            <a:pPr>
              <a:buFont typeface=""/>
              <a:buChar char="•"/>
            </a:pPr>
            <a:r>
              <a:rPr lang="en-US" sz="2000" dirty="0">
                <a:latin typeface="Georgia"/>
              </a:rPr>
              <a:t>Solution: Manual synonym lookup table + fuzzy string matching (</a:t>
            </a:r>
            <a:r>
              <a:rPr lang="en-US" sz="2000" dirty="0" err="1">
                <a:latin typeface="Georgia"/>
              </a:rPr>
              <a:t>stringdist</a:t>
            </a:r>
            <a:r>
              <a:rPr lang="en-US" sz="2000" dirty="0">
                <a:latin typeface="Georgia"/>
              </a:rPr>
              <a:t>)</a:t>
            </a:r>
          </a:p>
          <a:p>
            <a:pPr>
              <a:buFont typeface=""/>
              <a:buChar char="•"/>
            </a:pPr>
            <a:endParaRPr lang="en-US" sz="2000" dirty="0">
              <a:latin typeface="Georgia"/>
            </a:endParaRPr>
          </a:p>
          <a:p>
            <a:pPr marL="0" indent="0">
              <a:buNone/>
            </a:pPr>
            <a:r>
              <a:rPr lang="en-US" sz="2000" b="1">
                <a:latin typeface="Georgia"/>
              </a:rPr>
              <a:t>Limitations:</a:t>
            </a:r>
          </a:p>
          <a:p>
            <a:pPr>
              <a:buFont typeface=""/>
              <a:buChar char="•"/>
            </a:pPr>
            <a:r>
              <a:rPr lang="en-US" sz="2000">
                <a:latin typeface="Georgia"/>
              </a:rPr>
              <a:t>Single household, one premium store → not generalizable</a:t>
            </a:r>
            <a:endParaRPr lang="en-US" sz="2000" dirty="0">
              <a:latin typeface="Georgia"/>
            </a:endParaRPr>
          </a:p>
          <a:p>
            <a:pPr>
              <a:buFont typeface=""/>
              <a:buChar char="•"/>
            </a:pPr>
            <a:r>
              <a:rPr lang="en-US" sz="2000">
                <a:latin typeface="Georgia"/>
              </a:rPr>
              <a:t>5-item basket vs. hundreds in BLS CPI</a:t>
            </a:r>
            <a:endParaRPr lang="en-US" sz="2000" dirty="0">
              <a:latin typeface="Georgia"/>
            </a:endParaRPr>
          </a:p>
          <a:p>
            <a:pPr>
              <a:buFont typeface=""/>
              <a:buChar char="•"/>
            </a:pPr>
            <a:r>
              <a:rPr lang="en-US" sz="2000">
                <a:latin typeface="Georgia"/>
              </a:rPr>
              <a:t>2026 data partial (Jan-May only)</a:t>
            </a:r>
            <a:endParaRPr lang="en-US" sz="2000" dirty="0">
              <a:latin typeface="Georgia"/>
            </a:endParaRPr>
          </a:p>
          <a:p>
            <a:pPr>
              <a:buFont typeface=""/>
              <a:buChar char="•"/>
            </a:pPr>
            <a:r>
              <a:rPr lang="en-US" sz="2000" dirty="0">
                <a:latin typeface="Georgia"/>
              </a:rPr>
              <a:t>Equal-weighted basket doesn't reflect actual </a:t>
            </a:r>
          </a:p>
          <a:p>
            <a:pPr marL="0" indent="0">
              <a:buNone/>
            </a:pPr>
            <a:r>
              <a:rPr lang="en-US" sz="2000">
                <a:latin typeface="Georgia"/>
              </a:rPr>
              <a:t>spending patterns</a:t>
            </a:r>
            <a:endParaRPr lang="en-US"/>
          </a:p>
        </p:txBody>
      </p:sp>
      <p:sp>
        <p:nvSpPr>
          <p:cNvPr id="6" name="TextBox 5">
            <a:extLst>
              <a:ext uri="{FF2B5EF4-FFF2-40B4-BE49-F238E27FC236}">
                <a16:creationId xmlns:a16="http://schemas.microsoft.com/office/drawing/2014/main" id="{26095E8D-326F-C701-68E3-55D9308EE16A}"/>
              </a:ext>
            </a:extLst>
          </p:cNvPr>
          <p:cNvSpPr txBox="1"/>
          <p:nvPr/>
        </p:nvSpPr>
        <p:spPr>
          <a:xfrm>
            <a:off x="2739460" y="1393103"/>
            <a:ext cx="6787877" cy="37398"/>
          </a:xfrm>
          <a:prstGeom prst="rect">
            <a:avLst/>
          </a:prstGeom>
          <a:solidFill>
            <a:schemeClr val="accent3">
              <a:lumMod val="75000"/>
            </a:schemeClr>
          </a:solidFill>
          <a:ln>
            <a:solidFill>
              <a:schemeClr val="accent3">
                <a:lumMod val="75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2927680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een bag with various vegetables&#10;&#10;AI-generated content may be incorrect.">
            <a:extLst>
              <a:ext uri="{FF2B5EF4-FFF2-40B4-BE49-F238E27FC236}">
                <a16:creationId xmlns:a16="http://schemas.microsoft.com/office/drawing/2014/main" id="{E29DD9C3-79AC-4000-424B-7339D0A180AE}"/>
              </a:ext>
            </a:extLst>
          </p:cNvPr>
          <p:cNvPicPr>
            <a:picLocks noChangeAspect="1"/>
          </p:cNvPicPr>
          <p:nvPr/>
        </p:nvPicPr>
        <p:blipFill>
          <a:blip r:embed="rId2"/>
          <a:stretch>
            <a:fillRect/>
          </a:stretch>
        </p:blipFill>
        <p:spPr>
          <a:xfrm>
            <a:off x="-1821" y="-4280"/>
            <a:ext cx="12271884" cy="6863562"/>
          </a:xfrm>
          <a:prstGeom prst="rect">
            <a:avLst/>
          </a:prstGeom>
        </p:spPr>
      </p:pic>
      <p:sp>
        <p:nvSpPr>
          <p:cNvPr id="2" name="Title 1">
            <a:extLst>
              <a:ext uri="{FF2B5EF4-FFF2-40B4-BE49-F238E27FC236}">
                <a16:creationId xmlns:a16="http://schemas.microsoft.com/office/drawing/2014/main" id="{13479C7D-C115-11CA-8A4E-09505BB01333}"/>
              </a:ext>
            </a:extLst>
          </p:cNvPr>
          <p:cNvSpPr>
            <a:spLocks noGrp="1"/>
          </p:cNvSpPr>
          <p:nvPr>
            <p:ph type="title"/>
          </p:nvPr>
        </p:nvSpPr>
        <p:spPr>
          <a:xfrm>
            <a:off x="838200" y="365125"/>
            <a:ext cx="10515600" cy="1241416"/>
          </a:xfrm>
        </p:spPr>
        <p:txBody>
          <a:bodyPr/>
          <a:lstStyle/>
          <a:p>
            <a:pPr algn="ctr">
              <a:spcBef>
                <a:spcPts val="1000"/>
              </a:spcBef>
            </a:pPr>
            <a:r>
              <a:rPr lang="en-US" b="1">
                <a:solidFill>
                  <a:schemeClr val="accent3">
                    <a:lumMod val="76000"/>
                  </a:schemeClr>
                </a:solidFill>
                <a:latin typeface="Georgia"/>
              </a:rPr>
              <a:t>Conclusion</a:t>
            </a:r>
            <a:br>
              <a:rPr lang="en-US" b="1" dirty="0">
                <a:solidFill>
                  <a:schemeClr val="accent3">
                    <a:lumMod val="76000"/>
                  </a:schemeClr>
                </a:solidFill>
                <a:latin typeface="Georgia"/>
              </a:rPr>
            </a:br>
            <a:r>
              <a:rPr lang="en-US" sz="2400" b="1">
                <a:solidFill>
                  <a:schemeClr val="accent3">
                    <a:lumMod val="76000"/>
                  </a:schemeClr>
                </a:solidFill>
                <a:latin typeface="Georgia"/>
              </a:rPr>
              <a:t>Main takeaway</a:t>
            </a:r>
            <a:endParaRPr lang="en-US" sz="2400">
              <a:latin typeface="Georgia"/>
            </a:endParaRPr>
          </a:p>
          <a:p>
            <a:pPr algn="ctr"/>
            <a:endParaRPr lang="en-US" b="1" dirty="0">
              <a:latin typeface="Georgia"/>
            </a:endParaRPr>
          </a:p>
        </p:txBody>
      </p:sp>
      <p:sp>
        <p:nvSpPr>
          <p:cNvPr id="3" name="Content Placeholder 2">
            <a:extLst>
              <a:ext uri="{FF2B5EF4-FFF2-40B4-BE49-F238E27FC236}">
                <a16:creationId xmlns:a16="http://schemas.microsoft.com/office/drawing/2014/main" id="{96F26627-82E1-F85C-DFFA-856FC145A1EE}"/>
              </a:ext>
            </a:extLst>
          </p:cNvPr>
          <p:cNvSpPr>
            <a:spLocks noGrp="1"/>
          </p:cNvSpPr>
          <p:nvPr>
            <p:ph idx="1"/>
          </p:nvPr>
        </p:nvSpPr>
        <p:spPr>
          <a:xfrm>
            <a:off x="1394507" y="1984570"/>
            <a:ext cx="10515600" cy="4351338"/>
          </a:xfrm>
        </p:spPr>
        <p:txBody>
          <a:bodyPr vert="horz" lIns="91440" tIns="45720" rIns="91440" bIns="45720" rtlCol="0" anchor="t">
            <a:normAutofit/>
          </a:bodyPr>
          <a:lstStyle/>
          <a:p>
            <a:pPr marL="0" indent="0" algn="ctr">
              <a:buNone/>
            </a:pPr>
            <a:r>
              <a:rPr lang="en-US" sz="2400" b="1" dirty="0">
                <a:solidFill>
                  <a:schemeClr val="accent3">
                    <a:lumMod val="76000"/>
                  </a:schemeClr>
                </a:solidFill>
                <a:latin typeface="Georgia"/>
                <a:ea typeface="+mn-lt"/>
                <a:cs typeface="+mn-lt"/>
              </a:rPr>
              <a:t>Official food inflation does not always reflect individual consumer </a:t>
            </a:r>
            <a:r>
              <a:rPr lang="en-US" sz="2400" b="1">
                <a:solidFill>
                  <a:schemeClr val="accent3">
                    <a:lumMod val="76000"/>
                  </a:schemeClr>
                </a:solidFill>
                <a:latin typeface="Georgia"/>
                <a:ea typeface="+mn-lt"/>
                <a:cs typeface="+mn-lt"/>
              </a:rPr>
              <a:t>experience:</a:t>
            </a:r>
            <a:endParaRPr lang="en-US" sz="2400" b="1">
              <a:solidFill>
                <a:schemeClr val="accent3">
                  <a:lumMod val="76000"/>
                </a:schemeClr>
              </a:solidFill>
              <a:latin typeface="Georgia"/>
            </a:endParaRPr>
          </a:p>
          <a:p>
            <a:r>
              <a:rPr lang="en-US" sz="2400">
                <a:solidFill>
                  <a:schemeClr val="accent3">
                    <a:lumMod val="76000"/>
                  </a:schemeClr>
                </a:solidFill>
                <a:latin typeface="Georgia"/>
                <a:ea typeface="+mn-lt"/>
                <a:cs typeface="+mn-lt"/>
              </a:rPr>
              <a:t>Personal basket rose 10.4% vs official 2.2% (2024→2025) — 8.2 pp gap</a:t>
            </a:r>
            <a:endParaRPr lang="en-US" sz="2400">
              <a:solidFill>
                <a:schemeClr val="accent3">
                  <a:lumMod val="76000"/>
                </a:schemeClr>
              </a:solidFill>
              <a:latin typeface="Georgia"/>
            </a:endParaRPr>
          </a:p>
          <a:p>
            <a:r>
              <a:rPr lang="en-US" sz="2400">
                <a:solidFill>
                  <a:schemeClr val="accent3">
                    <a:lumMod val="76000"/>
                  </a:schemeClr>
                </a:solidFill>
                <a:latin typeface="Georgia"/>
                <a:ea typeface="+mn-lt"/>
                <a:cs typeface="+mn-lt"/>
              </a:rPr>
              <a:t>Regression confirms CPI weakly predicts personal prices (R² = 0.147)</a:t>
            </a:r>
            <a:endParaRPr lang="en-US" sz="2400">
              <a:solidFill>
                <a:schemeClr val="accent3">
                  <a:lumMod val="76000"/>
                </a:schemeClr>
              </a:solidFill>
              <a:latin typeface="Georgia"/>
            </a:endParaRPr>
          </a:p>
          <a:p>
            <a:r>
              <a:rPr lang="en-US" sz="2400">
                <a:solidFill>
                  <a:schemeClr val="accent3">
                    <a:lumMod val="76000"/>
                  </a:schemeClr>
                </a:solidFill>
                <a:latin typeface="Georgia"/>
                <a:ea typeface="+mn-lt"/>
                <a:cs typeface="+mn-lt"/>
              </a:rPr>
              <a:t>Prime savings did not offset rising prices</a:t>
            </a:r>
            <a:endParaRPr lang="en-US" sz="2400">
              <a:solidFill>
                <a:schemeClr val="accent3">
                  <a:lumMod val="76000"/>
                </a:schemeClr>
              </a:solidFill>
              <a:latin typeface="Georgia"/>
            </a:endParaRPr>
          </a:p>
          <a:p>
            <a:endParaRPr lang="en-US" sz="2400" dirty="0">
              <a:latin typeface="Georgia"/>
            </a:endParaRPr>
          </a:p>
        </p:txBody>
      </p:sp>
      <p:sp>
        <p:nvSpPr>
          <p:cNvPr id="8" name="TextBox 7">
            <a:extLst>
              <a:ext uri="{FF2B5EF4-FFF2-40B4-BE49-F238E27FC236}">
                <a16:creationId xmlns:a16="http://schemas.microsoft.com/office/drawing/2014/main" id="{C0661DFF-63FF-CADA-3444-690E4C0E3703}"/>
              </a:ext>
            </a:extLst>
          </p:cNvPr>
          <p:cNvSpPr txBox="1"/>
          <p:nvPr/>
        </p:nvSpPr>
        <p:spPr>
          <a:xfrm>
            <a:off x="3973619" y="1449202"/>
            <a:ext cx="4375656" cy="46748"/>
          </a:xfrm>
          <a:prstGeom prst="rect">
            <a:avLst/>
          </a:prstGeom>
          <a:solidFill>
            <a:schemeClr val="accent3">
              <a:lumMod val="75000"/>
            </a:schemeClr>
          </a:solidFill>
          <a:ln>
            <a:solidFill>
              <a:schemeClr val="accent3">
                <a:lumMod val="75000"/>
              </a:schemeClr>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14974267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Video 1">
            <a:hlinkClick r:id="" action="ppaction://media"/>
            <a:extLst>
              <a:ext uri="{FF2B5EF4-FFF2-40B4-BE49-F238E27FC236}">
                <a16:creationId xmlns:a16="http://schemas.microsoft.com/office/drawing/2014/main" id="{16726900-10B9-78D9-90BC-3A488C47F95E}"/>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935" y="106119"/>
            <a:ext cx="12203219" cy="6762633"/>
          </a:xfrm>
          <a:prstGeom prst="rect">
            <a:avLst/>
          </a:prstGeom>
        </p:spPr>
      </p:pic>
      <p:pic>
        <p:nvPicPr>
          <p:cNvPr id="2" name="Picture 1" descr="A green circle with black text&#10;&#10;AI-generated content may be incorrect.">
            <a:extLst>
              <a:ext uri="{FF2B5EF4-FFF2-40B4-BE49-F238E27FC236}">
                <a16:creationId xmlns:a16="http://schemas.microsoft.com/office/drawing/2014/main" id="{7225CFB1-F9AA-BEFF-C602-EC9E20865E94}"/>
              </a:ext>
            </a:extLst>
          </p:cNvPr>
          <p:cNvPicPr>
            <a:picLocks noChangeAspect="1"/>
          </p:cNvPicPr>
          <p:nvPr/>
        </p:nvPicPr>
        <p:blipFill>
          <a:blip r:embed="rId5"/>
          <a:stretch>
            <a:fillRect/>
          </a:stretch>
        </p:blipFill>
        <p:spPr>
          <a:xfrm>
            <a:off x="-171311" y="-75088"/>
            <a:ext cx="1866623" cy="1574058"/>
          </a:xfrm>
          <a:prstGeom prst="rect">
            <a:avLst/>
          </a:prstGeom>
        </p:spPr>
      </p:pic>
    </p:spTree>
    <p:extLst>
      <p:ext uri="{BB962C8B-B14F-4D97-AF65-F5344CB8AC3E}">
        <p14:creationId xmlns:p14="http://schemas.microsoft.com/office/powerpoint/2010/main" val="3418495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Data 607 Final Project:  Tracking Grocery Spending  from a Consumer Perspective  Over a Three-Year Period"</vt:lpstr>
      <vt:lpstr>Research Questions</vt:lpstr>
      <vt:lpstr>Motivation</vt:lpstr>
      <vt:lpstr>Focus of Analysis </vt:lpstr>
      <vt:lpstr>Analysis Workflow</vt:lpstr>
      <vt:lpstr>Findings</vt:lpstr>
      <vt:lpstr>Findings</vt:lpstr>
      <vt:lpstr>Findings</vt:lpstr>
      <vt:lpstr>Sub-analysis Findings</vt:lpstr>
      <vt:lpstr>Data Sources</vt:lpstr>
      <vt:lpstr>Challenges and limitations</vt:lpstr>
      <vt:lpstr>Conclusion Main takeaway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596</cp:revision>
  <dcterms:created xsi:type="dcterms:W3CDTF">2026-05-10T18:37:52Z</dcterms:created>
  <dcterms:modified xsi:type="dcterms:W3CDTF">2026-05-11T18:28:27Z</dcterms:modified>
</cp:coreProperties>
</file>